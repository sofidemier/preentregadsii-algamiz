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Barrios de CABA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7"/>
            <c:spPr>
              <a:solidFill>
                <a:srgbClr val="1E2761"/>
              </a:solidFill>
              <a:ln>
                <a:noFill/>
              </a:ln>
            </c:spPr>
          </c:marker>
          <c:xVal>
            <c:numRef>
              <c:f>Sheet1!$A$2:$A$37</c:f>
              <c:numCache>
                <c:formatCode>General</c:formatCode>
                <c:ptCount val="36"/>
                <c:pt idx="0">
                  <c:v>83.0</c:v>
                </c:pt>
                <c:pt idx="1">
                  <c:v>244.0</c:v>
                </c:pt>
                <c:pt idx="2">
                  <c:v>232.0</c:v>
                </c:pt>
                <c:pt idx="3">
                  <c:v>580.0</c:v>
                </c:pt>
                <c:pt idx="4">
                  <c:v>152.0</c:v>
                </c:pt>
                <c:pt idx="5">
                  <c:v>168.0</c:v>
                </c:pt>
                <c:pt idx="6">
                  <c:v>229.0</c:v>
                </c:pt>
                <c:pt idx="7">
                  <c:v>282.0</c:v>
                </c:pt>
                <c:pt idx="8">
                  <c:v>144.0</c:v>
                </c:pt>
                <c:pt idx="9">
                  <c:v>377.0</c:v>
                </c:pt>
                <c:pt idx="10">
                  <c:v>185.0</c:v>
                </c:pt>
                <c:pt idx="11">
                  <c:v>151.0</c:v>
                </c:pt>
                <c:pt idx="12">
                  <c:v>178.0</c:v>
                </c:pt>
                <c:pt idx="13">
                  <c:v>87.0</c:v>
                </c:pt>
                <c:pt idx="14">
                  <c:v>550.0</c:v>
                </c:pt>
                <c:pt idx="15">
                  <c:v>89.0</c:v>
                </c:pt>
                <c:pt idx="16">
                  <c:v>184.0</c:v>
                </c:pt>
                <c:pt idx="17">
                  <c:v>484.0</c:v>
                </c:pt>
                <c:pt idx="18">
                  <c:v>120.0</c:v>
                </c:pt>
                <c:pt idx="19">
                  <c:v>142.0</c:v>
                </c:pt>
                <c:pt idx="20">
                  <c:v>94.0</c:v>
                </c:pt>
                <c:pt idx="21">
                  <c:v>203.0</c:v>
                </c:pt>
                <c:pt idx="22">
                  <c:v>523.0</c:v>
                </c:pt>
                <c:pt idx="23">
                  <c:v>154.0</c:v>
                </c:pt>
                <c:pt idx="24">
                  <c:v>178.0</c:v>
                </c:pt>
                <c:pt idx="25">
                  <c:v>668.0</c:v>
                </c:pt>
                <c:pt idx="26">
                  <c:v>141.0</c:v>
                </c:pt>
                <c:pt idx="27">
                  <c:v>296.0</c:v>
                </c:pt>
                <c:pt idx="28">
                  <c:v>105.0</c:v>
                </c:pt>
                <c:pt idx="29">
                  <c:v>111.0</c:v>
                </c:pt>
                <c:pt idx="30">
                  <c:v>112.0</c:v>
                </c:pt>
                <c:pt idx="31">
                  <c:v>165.0</c:v>
                </c:pt>
                <c:pt idx="32">
                  <c:v>83.0</c:v>
                </c:pt>
                <c:pt idx="33">
                  <c:v>119.0</c:v>
                </c:pt>
                <c:pt idx="34">
                  <c:v>115.0</c:v>
                </c:pt>
                <c:pt idx="35">
                  <c:v>19.0</c:v>
                </c:pt>
              </c:numCache>
            </c:numRef>
          </c:xVal>
          <c:yVal>
            <c:numRef>
              <c:f>Sheet1!$B$2:$B$37</c:f>
              <c:numCache>
                <c:formatCode>General</c:formatCode>
                <c:ptCount val="36"/>
                <c:pt idx="0">
                  <c:v>95296.2946875</c:v>
                </c:pt>
                <c:pt idx="1">
                  <c:v>94636.52756319515</c:v>
                </c:pt>
                <c:pt idx="2">
                  <c:v>111233.82917948719</c:v>
                </c:pt>
                <c:pt idx="3">
                  <c:v>127219.04192307692</c:v>
                </c:pt>
                <c:pt idx="4">
                  <c:v>111609.22807017544</c:v>
                </c:pt>
                <c:pt idx="5">
                  <c:v>77505.69677419355</c:v>
                </c:pt>
                <c:pt idx="6">
                  <c:v>98286.75254761905</c:v>
                </c:pt>
                <c:pt idx="7">
                  <c:v>101357.4290131579</c:v>
                </c:pt>
                <c:pt idx="8">
                  <c:v>87714.48715909092</c:v>
                </c:pt>
                <c:pt idx="9">
                  <c:v>93143.42558333333</c:v>
                </c:pt>
                <c:pt idx="10">
                  <c:v>89771.8272</c:v>
                </c:pt>
                <c:pt idx="11">
                  <c:v>135202.16708333333</c:v>
                </c:pt>
                <c:pt idx="12">
                  <c:v>98458.00523809524</c:v>
                </c:pt>
                <c:pt idx="13">
                  <c:v>109883.33071428571</c:v>
                </c:pt>
                <c:pt idx="14">
                  <c:v>100285.08449329359</c:v>
                </c:pt>
                <c:pt idx="15">
                  <c:v>92265.72266666667</c:v>
                </c:pt>
                <c:pt idx="16">
                  <c:v>133578.88638888887</c:v>
                </c:pt>
                <c:pt idx="17">
                  <c:v>135289.86217410714</c:v>
                </c:pt>
                <c:pt idx="18">
                  <c:v>97506.41222222222</c:v>
                </c:pt>
                <c:pt idx="19">
                  <c:v>96303.16127659574</c:v>
                </c:pt>
                <c:pt idx="20">
                  <c:v>76039.95999999999</c:v>
                </c:pt>
                <c:pt idx="21">
                  <c:v>221324.06597333332</c:v>
                </c:pt>
                <c:pt idx="22">
                  <c:v>127239.68624082232</c:v>
                </c:pt>
                <c:pt idx="23">
                  <c:v>106174.70230263157</c:v>
                </c:pt>
                <c:pt idx="24">
                  <c:v>86871.08804195804</c:v>
                </c:pt>
                <c:pt idx="25">
                  <c:v>115760.25142725598</c:v>
                </c:pt>
                <c:pt idx="26">
                  <c:v>101935.96846153846</c:v>
                </c:pt>
                <c:pt idx="27">
                  <c:v>107021.3454467169</c:v>
                </c:pt>
                <c:pt idx="28">
                  <c:v>117771.87948979592</c:v>
                </c:pt>
                <c:pt idx="29">
                  <c:v>84075.35148148148</c:v>
                </c:pt>
                <c:pt idx="30">
                  <c:v>92851.04321428572</c:v>
                </c:pt>
                <c:pt idx="31">
                  <c:v>83705.82769230769</c:v>
                </c:pt>
                <c:pt idx="32">
                  <c:v>80100.15129032258</c:v>
                </c:pt>
                <c:pt idx="33">
                  <c:v>62099.81999999999</c:v>
                </c:pt>
                <c:pt idx="34">
                  <c:v>86402.188</c:v>
                </c:pt>
                <c:pt idx="35">
                  <c:v>101990.0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>
                    <a:solidFill>
                      <a:srgbClr val="6B7280"/>
                    </a:solidFill>
                    <a:latin typeface="Calibri"/>
                  </a:rPr>
                  <a:t>Puntos de interés en 900m (gastronomía + transporte)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>
                    <a:solidFill>
                      <a:srgbClr val="6B7280"/>
                    </a:solidFill>
                    <a:latin typeface="Calibri"/>
                  </a:rPr>
                  <a:t>Precio promedio por noche (ARS)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Precio promedio</c:v>
                </c:pt>
              </c:strCache>
            </c:strRef>
          </c:tx>
          <c:spPr>
            <a:solidFill>
              <a:srgbClr val="1E2761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&lt; 4.5</c:v>
                </c:pt>
                <c:pt idx="1">
                  <c:v>4.5 - 4.8</c:v>
                </c:pt>
                <c:pt idx="2">
                  <c:v>4.8 - 4.95</c:v>
                </c:pt>
                <c:pt idx="3">
                  <c:v>4.95 - 5.0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113289.0</c:v>
                </c:pt>
                <c:pt idx="1">
                  <c:v>116970.0</c:v>
                </c:pt>
                <c:pt idx="2">
                  <c:v>124457.0</c:v>
                </c:pt>
                <c:pt idx="3">
                  <c:v>126696.0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sz="1000">
                  <a:solidFill>
                    <a:srgbClr val="1B1F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>
                    <a:solidFill>
                      <a:srgbClr val="6B7280"/>
                    </a:solidFill>
                    <a:latin typeface="Calibri"/>
                  </a:rPr>
                  <a:t>Puntaje promedio de reviews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E5E7EB"/>
            </a:solidFill>
          </a:ln>
        </c:spPr>
        <c:txPr>
          <a:bodyPr/>
          <a:lstStyle/>
          <a:p>
            <a:pPr>
              <a:defRPr sz="1100">
                <a:solidFill>
                  <a:srgbClr val="1B1F3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>
                    <a:solidFill>
                      <a:srgbClr val="6B7280"/>
                    </a:solidFill>
                    <a:latin typeface="Calibri"/>
                  </a:rPr>
                  <a:t>Precio promedio por noche (ARS)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Premium de precio</c:v>
                </c:pt>
              </c:strCache>
            </c:strRef>
          </c:tx>
          <c:spPr>
            <a:solidFill>
              <a:srgbClr val="C9A227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Cocina</c:v>
                </c:pt>
                <c:pt idx="1">
                  <c:v>Ascensor</c:v>
                </c:pt>
                <c:pt idx="2">
                  <c:v>Wifi</c:v>
                </c:pt>
                <c:pt idx="3">
                  <c:v>Aire acondicionado</c:v>
                </c:pt>
                <c:pt idx="4">
                  <c:v>Acepta mascotas</c:v>
                </c:pt>
                <c:pt idx="5">
                  <c:v>Cochera</c:v>
                </c:pt>
                <c:pt idx="6">
                  <c:v>Pileta</c:v>
                </c:pt>
                <c:pt idx="7">
                  <c:v>Gimnasio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0.9</c:v>
                </c:pt>
                <c:pt idx="1">
                  <c:v>4.5</c:v>
                </c:pt>
                <c:pt idx="2">
                  <c:v>6.2</c:v>
                </c:pt>
                <c:pt idx="3">
                  <c:v>8.0</c:v>
                </c:pt>
                <c:pt idx="4">
                  <c:v>14.6</c:v>
                </c:pt>
                <c:pt idx="5">
                  <c:v>17.5</c:v>
                </c:pt>
                <c:pt idx="6">
                  <c:v>23.1</c:v>
                </c:pt>
                <c:pt idx="7">
                  <c:v>29.2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1B1F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5E7EB"/>
            </a:solidFill>
          </a:ln>
        </c:spPr>
        <c:txPr>
          <a:bodyPr/>
          <a:lstStyle/>
          <a:p>
            <a:pPr>
              <a:defRPr sz="1200">
                <a:solidFill>
                  <a:srgbClr val="1B1F3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>
                    <a:solidFill>
                      <a:srgbClr val="6B7280"/>
                    </a:solidFill>
                    <a:latin typeface="Calibri"/>
                  </a:rPr>
                  <a:t>Premium de precio (%) vs. sin esa comodidad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Precio promedio</c:v>
                </c:pt>
              </c:strCache>
            </c:strRef>
          </c:tx>
          <c:spPr>
            <a:solidFill>
              <a:srgbClr val="1E2761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Palermo</c:v>
                </c:pt>
                <c:pt idx="1">
                  <c:v>Recoleta</c:v>
                </c:pt>
                <c:pt idx="2">
                  <c:v>San Nicolas</c:v>
                </c:pt>
                <c:pt idx="3">
                  <c:v>Retiro</c:v>
                </c:pt>
                <c:pt idx="4">
                  <c:v>Monserrat</c:v>
                </c:pt>
                <c:pt idx="5">
                  <c:v>Belgrano</c:v>
                </c:pt>
                <c:pt idx="6">
                  <c:v>Balvanera</c:v>
                </c:pt>
                <c:pt idx="7">
                  <c:v>Almagro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135290</c:v>
                </c:pt>
                <c:pt idx="1">
                  <c:v>132963</c:v>
                </c:pt>
                <c:pt idx="2">
                  <c:v>115760</c:v>
                </c:pt>
                <c:pt idx="3">
                  <c:v>127240</c:v>
                </c:pt>
                <c:pt idx="4">
                  <c:v>100285</c:v>
                </c:pt>
                <c:pt idx="5">
                  <c:v>127219</c:v>
                </c:pt>
                <c:pt idx="6">
                  <c:v>98093</c:v>
                </c:pt>
                <c:pt idx="7">
                  <c:v>94637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sz="1000">
                  <a:solidFill>
                    <a:srgbClr val="1B1F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5E7EB"/>
            </a:solidFill>
          </a:ln>
        </c:spPr>
        <c:txPr>
          <a:bodyPr/>
          <a:lstStyle/>
          <a:p>
            <a:pPr>
              <a:defRPr sz="1200">
                <a:solidFill>
                  <a:srgbClr val="1B1F3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>
                    <a:solidFill>
                      <a:srgbClr val="6B7280"/>
                    </a:solidFill>
                    <a:latin typeface="Calibri"/>
                  </a:rPr>
                  <a:t>Precio promedio por noche (ARS)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2103120"/>
            <a:ext cx="5486400" cy="5486400"/>
          </a:xfrm>
          <a:prstGeom prst="ellipse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32720" y="4206240"/>
            <a:ext cx="3291840" cy="3291840"/>
          </a:xfrm>
          <a:prstGeom prst="ellipse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A227"/>
                </a:solidFill>
                <a:latin typeface="Calibri"/>
              </a:rPr>
              <a:t>DATA SCIENCE II · MACHINE LEARNING PARA LA CIENCIA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Optimización de Precios y Ocupación</a:t>
            </a:r>
          </a:p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en Alquileres Temporarios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CADCFC"/>
                </a:solidFill>
                <a:latin typeface="Calibri"/>
              </a:rPr>
              <a:t>Un análisis de Airbnb en la Ciudad Autónoma de Buenos Aires, enriquecido con datos abiertos de OpenStreetMap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9AA6DA"/>
                </a:solidFill>
                <a:latin typeface="Calibri"/>
              </a:rPr>
              <a:t>Primera Entrega: Obtención de insights a partir de visualizaciones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ADCFC"/>
                </a:solidFill>
                <a:latin typeface="Calibri"/>
              </a:rPr>
              <a:t>Sofia Algamiz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1E2761"/>
                </a:solidFill>
                <a:latin typeface="Calibri"/>
              </a:rPr>
              <a:t>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1F3B"/>
                </a:solidFill>
                <a:latin typeface="Cambria"/>
              </a:rPr>
              <a:t>Por qué este análisis, y para quién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60350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B1F3B"/>
                </a:solidFill>
                <a:latin typeface="Calibri"/>
              </a:rPr>
              <a:t>El alquiler temporario es una de las formas más dinámicas de explotación inmobiliaria en las grandes ciudades. A diferencia del alquiler tradicional, el precio “correcto” de una propiedad depende de variables muy específicas del negocio turístico: ubicación relativa a bares y restaurantes, cercanía al transporte, comodidades ofrecidas y reputación acumulada.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035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B1F3B"/>
                </a:solidFill>
                <a:latin typeface="Calibri"/>
              </a:rPr>
              <a:t>Este proyecto analiza publicaciones activas de Airbnb en CABA, enriquecidas con datos abiertos de OpenStreetMap sobre oferta gastronómica y transporte, para entender qué factores explican el precio y la ocupación de una propiedad.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691640"/>
            <a:ext cx="4434840" cy="39319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52360" y="2011680"/>
            <a:ext cx="502920" cy="50292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0116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011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B1F3B"/>
                </a:solidFill>
                <a:latin typeface="Cambria"/>
              </a:rPr>
              <a:t>Audiencia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3794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B1F3B"/>
                </a:solidFill>
                <a:latin typeface="Calibri"/>
              </a:rPr>
              <a:t>Inversores inmobiliarios y gestores de propiedades de alquiler temporario que evalúan en qué barrio comprar o alquilar una unidad, cómo equiparla y cómo fijar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297680"/>
            <a:ext cx="3794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280"/>
                </a:solidFill>
                <a:latin typeface="Calibri"/>
              </a:rPr>
              <a:t>Sin necesidad de conocimientos técnicos de estadística o programación.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1E2761"/>
                </a:solidFill>
                <a:latin typeface="Calibri"/>
              </a:rPr>
              <a:t>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1F3B"/>
                </a:solidFill>
                <a:latin typeface="Cambria"/>
              </a:rPr>
              <a:t>Resumen del dataset analizado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Fuente: Inside Airbnb (scrape 29/06/2026) enriquecido con densidad de puntos de interés de OpenStreetMap (Overpass API).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27.166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24912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publicaciones activas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analizadas (de 29.685 crudas)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2024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724912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variables originales por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publicación (90 → 31 curadas)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92024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205740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724912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barrios de la Ciudad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Autónoma de Buenos Aires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5760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$100.964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62272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precio mediano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por noche (ARS)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5760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79476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21.1%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62272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ocupación estimada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promedio (últimos 365 días)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65760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19" y="379476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32.9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4462272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comodidades (amenities)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promedio por propiedad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49240"/>
            <a:ext cx="10789920" cy="7772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77256"/>
            <a:ext cx="210312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  <a:latin typeface="Calibri"/>
              </a:rPr>
              <a:t>TIPOS DE</a:t>
            </a:r>
          </a:p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  <a:latin typeface="Calibri"/>
              </a:rPr>
              <a:t>VARIABLE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5440680"/>
            <a:ext cx="685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5440680"/>
            <a:ext cx="1965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numéricas</a:t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(precio, ocupación, reviews…)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5440680"/>
            <a:ext cx="685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440680"/>
            <a:ext cx="1965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categóricas</a:t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(barrio, tipo de propiedad…)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5440680"/>
            <a:ext cx="685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59" y="5440680"/>
            <a:ext cx="1965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binarias</a:t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(amenities: sí / no)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1E2761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1F3B"/>
                </a:solidFill>
                <a:latin typeface="Cambria"/>
              </a:rPr>
              <a:t>Tres preguntas para optimizar precio y ocupación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20440" cy="3977639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57400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B1F3B"/>
                </a:solidFill>
                <a:latin typeface="Cambria"/>
              </a:rPr>
              <a:t>Densidad de puntos de interés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B7280"/>
                </a:solidFill>
                <a:latin typeface="Calibri"/>
              </a:rPr>
              <a:t>¿Los barrios con más oferta gastronómica y transporte cercano tienen precios más altos?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520440" cy="3977639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63440" y="2057400"/>
            <a:ext cx="594360" cy="59436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B1F3B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8803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Reviews y tarifa diaria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8620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CADCFC"/>
                </a:solidFill>
                <a:latin typeface="Calibri"/>
              </a:rPr>
              <a:t>¿Las propiedades mejor valoradas por sus huéspedes logran cobrar tarifas más altas?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737360"/>
            <a:ext cx="3520440" cy="3977639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0" y="2057400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05740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8803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B1F3B"/>
                </a:solidFill>
                <a:latin typeface="Cambria"/>
              </a:rPr>
              <a:t>Premium por comodidades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8620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B7280"/>
                </a:solidFill>
                <a:latin typeface="Calibri"/>
              </a:rPr>
              <a:t>¿Qué amenities (pileta, cochera, aire acondicionado…) generan un salto real de precio?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1F3B"/>
                </a:solidFill>
                <a:latin typeface="Cambria"/>
              </a:rPr>
              <a:t>Densidad de puntos de interés vs. precio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234440"/>
          <a:ext cx="694944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26679" y="1234440"/>
            <a:ext cx="3840480" cy="502920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4630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1F3B"/>
                </a:solidFill>
                <a:latin typeface="Calibri"/>
              </a:rPr>
              <a:t>Cada punto es un barrio de CABA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9659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E2761"/>
                </a:solidFill>
                <a:latin typeface="Cambria"/>
              </a:rPr>
              <a:t>0.3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8803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correlación entre densidad de POI y precio promedio por barrio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84048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1F3B"/>
                </a:solidFill>
                <a:latin typeface="Calibri"/>
              </a:rPr>
              <a:t>La caminabilidad hacia oferta gastronómica y transporte suma valor de ubicación medible, junto con el tamaño y tipo de propiedad.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1F3B"/>
                </a:solidFill>
                <a:latin typeface="Cambria"/>
              </a:rPr>
              <a:t>Reviews vs. tarifa promedio diaria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234440"/>
          <a:ext cx="694944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26679" y="1234440"/>
            <a:ext cx="3840480" cy="502920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4630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1F3B"/>
                </a:solidFill>
                <a:latin typeface="Calibri"/>
              </a:rPr>
              <a:t>Correlación puntaje ↔ precio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9202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E2761"/>
                </a:solidFill>
                <a:latin typeface="Cambria"/>
              </a:rPr>
              <a:t>0.05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8346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6B7280"/>
                </a:solidFill>
                <a:latin typeface="Calibri"/>
              </a:rPr>
              <a:t>(0 = sin relación lineal, 1 = relación perfecta)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520440"/>
            <a:ext cx="32918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1F3B"/>
                </a:solidFill>
                <a:latin typeface="Calibri"/>
              </a:rPr>
              <a:t>La relación es más débil de lo que la intuición sugiere. Un buen puntaje sostiene al host en el mercado, pero no explica tarifas más altas por sí solo.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1F3B"/>
                </a:solidFill>
                <a:latin typeface="Cambria"/>
              </a:rPr>
              <a:t>Qué comodidades generan un premium real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18872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49640" y="1188720"/>
            <a:ext cx="3017520" cy="512064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3960" y="14173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227"/>
                </a:solidFill>
                <a:latin typeface="Calibri"/>
              </a:rPr>
              <a:t>Top 3 oportunidades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1965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Gimnasio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2313432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227"/>
                </a:solidFill>
                <a:latin typeface="Cambria"/>
              </a:rPr>
              <a:t>+29.2%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834639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12.8% de las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propiedades la ofrece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429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Pileta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3776472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227"/>
                </a:solidFill>
                <a:latin typeface="Cambria"/>
              </a:rPr>
              <a:t>+23.1%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429768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27.2% de las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propiedades la ofrece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4892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Cochera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5239512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227"/>
                </a:solidFill>
                <a:latin typeface="Cambria"/>
              </a:rPr>
              <a:t>+17.5%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5760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56.3% de las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ADCFC"/>
                </a:solidFill>
                <a:latin typeface="Calibri"/>
              </a:rPr>
              <a:t>propiedades la ofrece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1E2761"/>
                </a:solidFill>
                <a:latin typeface="Calibri"/>
              </a:rPr>
              <a:t>CONTEXTO ADICIONAL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1F3B"/>
                </a:solidFill>
                <a:latin typeface="Cambria"/>
              </a:rPr>
              <a:t>Panorama de precios en los barrios con más oferta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B7280"/>
                </a:solidFill>
                <a:latin typeface="Calibri"/>
              </a:rPr>
              <a:t>8 barrios con mayor cantidad de publicaciones activas en Airbnb (CABA).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C9A227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Insights clave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548640" cy="5486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B1F3B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73736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Ubicación con densidad de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37360"/>
            <a:ext cx="566928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Correlación de 0.3 entre densidad de POI y precio promedio por barrio: la cercanía a oferta gastronómica y transporte es un factor de pricing medible.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383279"/>
            <a:ext cx="548640" cy="5486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8327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B1F3B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291839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Las reviews son un piso, no una palanca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291839"/>
            <a:ext cx="566928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Correlación de solo 0.05 entre puntaje de reviews y precio: un buen puntaje sostiene al host en el mercado, pero no justifica tarifas premium por sí solo.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37759"/>
            <a:ext cx="548640" cy="5486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3775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B1F3B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84632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No todas las amenities valen lo mismo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846320"/>
            <a:ext cx="566928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Gimnasio y pileta lideran el premium de precio (hasta +29.2%) y aún tienen baja penetración: son las mejores candidatas a inversión.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891C4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891C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50">
                <a:solidFill>
                  <a:srgbClr val="1E2761"/>
                </a:solidFill>
                <a:latin typeface="Calibri"/>
              </a:rPr>
              <a:t>RECOMENDACIONES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1F3B"/>
                </a:solidFill>
                <a:latin typeface="Cambria"/>
              </a:rPr>
              <a:t>Qué hacer con estos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11679"/>
            <a:ext cx="502920" cy="50292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7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B1F3B"/>
                </a:solidFill>
                <a:latin typeface="Cambria"/>
              </a:rPr>
              <a:t>Priorizar ubicación caminable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39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Al elegir barrio para invertir, ponderar la densidad de gastronomía y transporte cercano, no solo el precio del metro cuadrado.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63440" y="2011679"/>
            <a:ext cx="502920" cy="50292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1167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974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B1F3B"/>
                </a:solidFill>
                <a:latin typeface="Cambria"/>
              </a:rPr>
              <a:t>Reviews: piso no negociable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520439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Mantener un puntaje alto de reviews como condición de permanencia en el mercado, sin esperar que por sí solo justifique subir tarifas.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73736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0" y="2011679"/>
            <a:ext cx="502920" cy="50292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01167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974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B1F3B"/>
                </a:solidFill>
                <a:latin typeface="Cambria"/>
              </a:rPr>
              <a:t>Invertir en amenities de alto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520439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B7280"/>
                </a:solidFill>
                <a:latin typeface="Calibri"/>
              </a:rPr>
              <a:t>Priorizar gimnasio, pileta y cochera al equipar una propiedad: son las comodidades con mayor retorno relativo y todavía baja penetración.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2103120"/>
            <a:ext cx="5486400" cy="5486400"/>
          </a:xfrm>
          <a:prstGeom prst="ellipse">
            <a:avLst/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Optimización de Precios y Ocupación en Alquileres Temporarios · Airbnb CABA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9AA6DA"/>
                </a:solidFill>
                <a:latin typeface="Calibri"/>
              </a:rPr>
              <a:t>Fuentes: Inside Airbnb · OpenStreetMap (Overpass API) · Google Analytics 4 (BigQuery)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891C4"/>
                </a:solidFill>
                <a:latin typeface="Calibri"/>
              </a:rPr>
              <a:t>Airbnb CABA · Data Science II · TP1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891C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