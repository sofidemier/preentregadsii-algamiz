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0"/>
        <c:ser>
          <c:idx val="0"/>
          <c:order val="0"/>
          <c:tx>
            <c:strRef>
              <c:f>Sheet1!$B$1</c:f>
              <c:strCache>
                <c:ptCount val="1"/>
                <c:pt idx="0">
                  <c:v>Barrios de CABA</c:v>
                </c:pt>
              </c:strCache>
            </c:strRef>
          </c:tx>
          <c:spPr>
            <a:ln w="47625">
              <a:noFill/>
            </a:ln>
          </c:spPr>
          <c:marker>
            <c:symbol val="circle"/>
            <c:size val="7"/>
            <c:spPr>
              <a:solidFill>
                <a:srgbClr val="1E2761"/>
              </a:solidFill>
              <a:ln>
                <a:noFill/>
              </a:ln>
            </c:spPr>
          </c:marker>
          <c:xVal>
            <c:numRef>
              <c:f>Sheet1!$A$2:$A$37</c:f>
              <c:numCache>
                <c:formatCode>General</c:formatCode>
                <c:ptCount val="36"/>
                <c:pt idx="0">
                  <c:v>83</c:v>
                </c:pt>
                <c:pt idx="1">
                  <c:v>244</c:v>
                </c:pt>
                <c:pt idx="2">
                  <c:v>232</c:v>
                </c:pt>
                <c:pt idx="3">
                  <c:v>580</c:v>
                </c:pt>
                <c:pt idx="4">
                  <c:v>152</c:v>
                </c:pt>
                <c:pt idx="5">
                  <c:v>168</c:v>
                </c:pt>
                <c:pt idx="6">
                  <c:v>229</c:v>
                </c:pt>
                <c:pt idx="7">
                  <c:v>282</c:v>
                </c:pt>
                <c:pt idx="8">
                  <c:v>144</c:v>
                </c:pt>
                <c:pt idx="9">
                  <c:v>377</c:v>
                </c:pt>
                <c:pt idx="10">
                  <c:v>185</c:v>
                </c:pt>
                <c:pt idx="11">
                  <c:v>151</c:v>
                </c:pt>
                <c:pt idx="12">
                  <c:v>178</c:v>
                </c:pt>
                <c:pt idx="13">
                  <c:v>87</c:v>
                </c:pt>
                <c:pt idx="14">
                  <c:v>550</c:v>
                </c:pt>
                <c:pt idx="15">
                  <c:v>89</c:v>
                </c:pt>
                <c:pt idx="16">
                  <c:v>184</c:v>
                </c:pt>
                <c:pt idx="17">
                  <c:v>484</c:v>
                </c:pt>
                <c:pt idx="18">
                  <c:v>120</c:v>
                </c:pt>
                <c:pt idx="19">
                  <c:v>142</c:v>
                </c:pt>
                <c:pt idx="20">
                  <c:v>94</c:v>
                </c:pt>
                <c:pt idx="21">
                  <c:v>203</c:v>
                </c:pt>
                <c:pt idx="22">
                  <c:v>523</c:v>
                </c:pt>
                <c:pt idx="23">
                  <c:v>154</c:v>
                </c:pt>
                <c:pt idx="24">
                  <c:v>178</c:v>
                </c:pt>
                <c:pt idx="25">
                  <c:v>668</c:v>
                </c:pt>
                <c:pt idx="26">
                  <c:v>141</c:v>
                </c:pt>
                <c:pt idx="27">
                  <c:v>296</c:v>
                </c:pt>
                <c:pt idx="28">
                  <c:v>105</c:v>
                </c:pt>
                <c:pt idx="29">
                  <c:v>111</c:v>
                </c:pt>
                <c:pt idx="30">
                  <c:v>112</c:v>
                </c:pt>
                <c:pt idx="31">
                  <c:v>165</c:v>
                </c:pt>
                <c:pt idx="32">
                  <c:v>83</c:v>
                </c:pt>
                <c:pt idx="33">
                  <c:v>119</c:v>
                </c:pt>
                <c:pt idx="34">
                  <c:v>115</c:v>
                </c:pt>
                <c:pt idx="35">
                  <c:v>19</c:v>
                </c:pt>
              </c:numCache>
            </c:numRef>
          </c:xVal>
          <c:yVal>
            <c:numRef>
              <c:f>Sheet1!$B$2:$B$37</c:f>
              <c:numCache>
                <c:formatCode>General</c:formatCode>
                <c:ptCount val="36"/>
                <c:pt idx="0">
                  <c:v>95296.294687500005</c:v>
                </c:pt>
                <c:pt idx="1">
                  <c:v>94636.527563195152</c:v>
                </c:pt>
                <c:pt idx="2">
                  <c:v>111233.82917948719</c:v>
                </c:pt>
                <c:pt idx="3">
                  <c:v>127219.04192307692</c:v>
                </c:pt>
                <c:pt idx="4">
                  <c:v>111609.22807017544</c:v>
                </c:pt>
                <c:pt idx="5">
                  <c:v>77505.696774193551</c:v>
                </c:pt>
                <c:pt idx="6">
                  <c:v>98286.752547619049</c:v>
                </c:pt>
                <c:pt idx="7">
                  <c:v>101357.4290131579</c:v>
                </c:pt>
                <c:pt idx="8">
                  <c:v>87714.487159090917</c:v>
                </c:pt>
                <c:pt idx="9">
                  <c:v>93143.42558333333</c:v>
                </c:pt>
                <c:pt idx="10">
                  <c:v>89771.8272</c:v>
                </c:pt>
                <c:pt idx="11">
                  <c:v>135202.16708333333</c:v>
                </c:pt>
                <c:pt idx="12">
                  <c:v>98458.00523809524</c:v>
                </c:pt>
                <c:pt idx="13">
                  <c:v>109883.33071428571</c:v>
                </c:pt>
                <c:pt idx="14">
                  <c:v>100285.08449329359</c:v>
                </c:pt>
                <c:pt idx="15">
                  <c:v>92265.722666666668</c:v>
                </c:pt>
                <c:pt idx="16">
                  <c:v>133578.88638888887</c:v>
                </c:pt>
                <c:pt idx="17">
                  <c:v>135289.86217410714</c:v>
                </c:pt>
                <c:pt idx="18">
                  <c:v>97506.412222222221</c:v>
                </c:pt>
                <c:pt idx="19">
                  <c:v>96303.16127659574</c:v>
                </c:pt>
                <c:pt idx="20">
                  <c:v>76039.959999999992</c:v>
                </c:pt>
                <c:pt idx="21">
                  <c:v>221324.06597333332</c:v>
                </c:pt>
                <c:pt idx="22">
                  <c:v>127239.68624082232</c:v>
                </c:pt>
                <c:pt idx="23">
                  <c:v>106174.70230263157</c:v>
                </c:pt>
                <c:pt idx="24">
                  <c:v>86871.088041958035</c:v>
                </c:pt>
                <c:pt idx="25">
                  <c:v>115760.25142725598</c:v>
                </c:pt>
                <c:pt idx="26">
                  <c:v>101935.96846153846</c:v>
                </c:pt>
                <c:pt idx="27">
                  <c:v>107021.34544671691</c:v>
                </c:pt>
                <c:pt idx="28">
                  <c:v>117771.87948979592</c:v>
                </c:pt>
                <c:pt idx="29">
                  <c:v>84075.351481481484</c:v>
                </c:pt>
                <c:pt idx="30">
                  <c:v>92851.043214285717</c:v>
                </c:pt>
                <c:pt idx="31">
                  <c:v>83705.827692307692</c:v>
                </c:pt>
                <c:pt idx="32">
                  <c:v>80100.151290322581</c:v>
                </c:pt>
                <c:pt idx="33">
                  <c:v>62099.819999999992</c:v>
                </c:pt>
                <c:pt idx="34">
                  <c:v>86402.187999999995</c:v>
                </c:pt>
                <c:pt idx="35">
                  <c:v>101990</c:v>
                </c:pt>
              </c:numCache>
            </c:numRef>
          </c:yVal>
          <c:smooth val="0"/>
          <c:extLst>
            <c:ext xmlns:c16="http://schemas.microsoft.com/office/drawing/2014/chart" uri="{C3380CC4-5D6E-409C-BE32-E72D297353CC}">
              <c16:uniqueId val="{00000000-6FC8-413F-84B8-85D9241B2E45}"/>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lang="es-ES" sz="1100">
                    <a:solidFill>
                      <a:srgbClr val="6B7280"/>
                    </a:solidFill>
                    <a:latin typeface="Calibri"/>
                  </a:rPr>
                  <a:t>Puntos de interés en 900m (gastronomía + transporte)</a:t>
                </a:r>
              </a:p>
            </c:rich>
          </c:tx>
          <c:overlay val="0"/>
        </c:title>
        <c:numFmt formatCode="General" sourceLinked="1"/>
        <c:majorTickMark val="out"/>
        <c:minorTickMark val="none"/>
        <c:tickLblPos val="nextTo"/>
        <c:txPr>
          <a:bodyPr/>
          <a:lstStyle/>
          <a:p>
            <a:pPr>
              <a:defRPr sz="1000">
                <a:solidFill>
                  <a:srgbClr val="6B7280"/>
                </a:solidFill>
                <a:latin typeface="Calibri"/>
              </a:defRPr>
            </a:pPr>
            <a:endParaRPr lang="es-AR"/>
          </a:p>
        </c:txPr>
        <c:crossAx val="-2129643912"/>
        <c:crosses val="autoZero"/>
        <c:crossBetween val="midCat"/>
      </c:valAx>
      <c:valAx>
        <c:axId val="-2129643912"/>
        <c:scaling>
          <c:orientation val="minMax"/>
        </c:scaling>
        <c:delete val="0"/>
        <c:axPos val="l"/>
        <c:majorGridlines>
          <c:spPr>
            <a:ln>
              <a:solidFill>
                <a:srgbClr val="E5E7EB"/>
              </a:solidFill>
            </a:ln>
          </c:spPr>
        </c:majorGridlines>
        <c:title>
          <c:tx>
            <c:rich>
              <a:bodyPr/>
              <a:lstStyle/>
              <a:p>
                <a:r>
                  <a:rPr lang="es-ES" sz="1100">
                    <a:solidFill>
                      <a:srgbClr val="6B7280"/>
                    </a:solidFill>
                    <a:latin typeface="Calibri"/>
                  </a:rPr>
                  <a:t>Precio promedio por noche (ARS)</a:t>
                </a:r>
              </a:p>
            </c:rich>
          </c:tx>
          <c:overlay val="0"/>
        </c:title>
        <c:numFmt formatCode="General" sourceLinked="1"/>
        <c:majorTickMark val="out"/>
        <c:minorTickMark val="none"/>
        <c:tickLblPos val="nextTo"/>
        <c:txPr>
          <a:bodyPr/>
          <a:lstStyle/>
          <a:p>
            <a:pPr>
              <a:defRPr sz="1000">
                <a:solidFill>
                  <a:srgbClr val="6B7280"/>
                </a:solidFill>
                <a:latin typeface="Calibri"/>
              </a:defRPr>
            </a:pPr>
            <a:endParaRPr lang="es-AR"/>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Precio promedio</c:v>
                </c:pt>
              </c:strCache>
            </c:strRef>
          </c:tx>
          <c:spPr>
            <a:solidFill>
              <a:srgbClr val="1E2761"/>
            </a:solidFill>
            <a:ln>
              <a:noFill/>
            </a:ln>
          </c:spPr>
          <c:invertIfNegative val="1"/>
          <c:dLbls>
            <c:numFmt formatCode="&quot;$&quot;#,##0" sourceLinked="0"/>
            <c:spPr>
              <a:noFill/>
              <a:ln>
                <a:noFill/>
              </a:ln>
              <a:effectLst/>
            </c:spPr>
            <c:txPr>
              <a:bodyPr/>
              <a:lstStyle/>
              <a:p>
                <a:pPr>
                  <a:defRPr sz="1000">
                    <a:solidFill>
                      <a:srgbClr val="1B1F3B"/>
                    </a:solidFill>
                    <a:latin typeface="Calibri"/>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&lt; 4.5</c:v>
                </c:pt>
                <c:pt idx="1">
                  <c:v>4.5 - 4.8</c:v>
                </c:pt>
                <c:pt idx="2">
                  <c:v>4.8 - 4.95</c:v>
                </c:pt>
                <c:pt idx="3">
                  <c:v>4.95 - 5.0</c:v>
                </c:pt>
              </c:strCache>
            </c:strRef>
          </c:cat>
          <c:val>
            <c:numRef>
              <c:f>Sheet1!$B$2:$B$5</c:f>
              <c:numCache>
                <c:formatCode>General</c:formatCode>
                <c:ptCount val="4"/>
                <c:pt idx="0">
                  <c:v>113289</c:v>
                </c:pt>
                <c:pt idx="1">
                  <c:v>116970</c:v>
                </c:pt>
                <c:pt idx="2">
                  <c:v>124457</c:v>
                </c:pt>
                <c:pt idx="3">
                  <c:v>126696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0103-4C5D-8583-9C0637F48CD5}"/>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title>
          <c:tx>
            <c:rich>
              <a:bodyPr/>
              <a:lstStyle/>
              <a:p>
                <a:r>
                  <a:rPr lang="es-AR" sz="1100">
                    <a:solidFill>
                      <a:srgbClr val="6B7280"/>
                    </a:solidFill>
                    <a:latin typeface="Calibri"/>
                  </a:rPr>
                  <a:t>Puntaje promedio de reviews</a:t>
                </a:r>
              </a:p>
            </c:rich>
          </c:tx>
          <c:overlay val="0"/>
        </c:title>
        <c:numFmt formatCode="General" sourceLinked="0"/>
        <c:majorTickMark val="out"/>
        <c:minorTickMark val="none"/>
        <c:tickLblPos val="nextTo"/>
        <c:spPr>
          <a:ln>
            <a:solidFill>
              <a:srgbClr val="E5E7EB"/>
            </a:solidFill>
          </a:ln>
        </c:spPr>
        <c:txPr>
          <a:bodyPr/>
          <a:lstStyle/>
          <a:p>
            <a:pPr>
              <a:defRPr sz="1100">
                <a:solidFill>
                  <a:srgbClr val="1B1F3B"/>
                </a:solidFill>
                <a:latin typeface="Calibri"/>
              </a:defRPr>
            </a:pPr>
            <a:endParaRPr lang="es-AR"/>
          </a:p>
        </c:txPr>
        <c:crossAx val="-2113994440"/>
        <c:crosses val="autoZero"/>
        <c:auto val="1"/>
        <c:lblAlgn val="ctr"/>
        <c:lblOffset val="100"/>
        <c:noMultiLvlLbl val="0"/>
      </c:catAx>
      <c:valAx>
        <c:axId val="-2113994440"/>
        <c:scaling>
          <c:orientation val="minMax"/>
        </c:scaling>
        <c:delete val="0"/>
        <c:axPos val="l"/>
        <c:majorGridlines>
          <c:spPr>
            <a:ln>
              <a:solidFill>
                <a:srgbClr val="E5E7EB"/>
              </a:solidFill>
            </a:ln>
          </c:spPr>
        </c:majorGridlines>
        <c:title>
          <c:tx>
            <c:rich>
              <a:bodyPr/>
              <a:lstStyle/>
              <a:p>
                <a:r>
                  <a:rPr lang="es-ES" sz="1100">
                    <a:solidFill>
                      <a:srgbClr val="6B7280"/>
                    </a:solidFill>
                    <a:latin typeface="Calibri"/>
                  </a:rPr>
                  <a:t>Precio promedio por noche (ARS)</a:t>
                </a:r>
              </a:p>
            </c:rich>
          </c:tx>
          <c:overlay val="0"/>
        </c:title>
        <c:numFmt formatCode="General" sourceLinked="1"/>
        <c:majorTickMark val="out"/>
        <c:minorTickMark val="none"/>
        <c:tickLblPos val="nextTo"/>
        <c:spPr>
          <a:ln>
            <a:noFill/>
          </a:ln>
        </c:spPr>
        <c:txPr>
          <a:bodyPr/>
          <a:lstStyle/>
          <a:p>
            <a:pPr>
              <a:defRPr sz="900">
                <a:solidFill>
                  <a:srgbClr val="6B7280"/>
                </a:solidFill>
                <a:latin typeface="Calibri"/>
              </a:defRPr>
            </a:pPr>
            <a:endParaRPr lang="es-A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Premium de precio</c:v>
                </c:pt>
              </c:strCache>
            </c:strRef>
          </c:tx>
          <c:spPr>
            <a:solidFill>
              <a:srgbClr val="C9A227"/>
            </a:solidFill>
            <a:ln>
              <a:noFill/>
            </a:ln>
          </c:spPr>
          <c:invertIfNegative val="1"/>
          <c:dLbls>
            <c:numFmt formatCode="0&quot;%&quot;" sourceLinked="0"/>
            <c:spPr>
              <a:noFill/>
              <a:ln>
                <a:noFill/>
              </a:ln>
              <a:effectLst/>
            </c:spPr>
            <c:txPr>
              <a:bodyPr/>
              <a:lstStyle/>
              <a:p>
                <a:pPr>
                  <a:defRPr sz="1000">
                    <a:solidFill>
                      <a:srgbClr val="1B1F3B"/>
                    </a:solidFill>
                    <a:latin typeface="Calibri"/>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Cocina</c:v>
                </c:pt>
                <c:pt idx="1">
                  <c:v>Ascensor</c:v>
                </c:pt>
                <c:pt idx="2">
                  <c:v>Wifi</c:v>
                </c:pt>
                <c:pt idx="3">
                  <c:v>Aire acondicionado</c:v>
                </c:pt>
                <c:pt idx="4">
                  <c:v>Acepta mascotas</c:v>
                </c:pt>
                <c:pt idx="5">
                  <c:v>Cochera</c:v>
                </c:pt>
                <c:pt idx="6">
                  <c:v>Pileta</c:v>
                </c:pt>
                <c:pt idx="7">
                  <c:v>Gimnasio</c:v>
                </c:pt>
              </c:strCache>
            </c:strRef>
          </c:cat>
          <c:val>
            <c:numRef>
              <c:f>Sheet1!$B$2:$B$9</c:f>
              <c:numCache>
                <c:formatCode>General</c:formatCode>
                <c:ptCount val="8"/>
                <c:pt idx="0">
                  <c:v>0.9</c:v>
                </c:pt>
                <c:pt idx="1">
                  <c:v>4.5</c:v>
                </c:pt>
                <c:pt idx="2">
                  <c:v>6.2</c:v>
                </c:pt>
                <c:pt idx="3">
                  <c:v>8</c:v>
                </c:pt>
                <c:pt idx="4">
                  <c:v>14.6</c:v>
                </c:pt>
                <c:pt idx="5">
                  <c:v>17.5</c:v>
                </c:pt>
                <c:pt idx="6">
                  <c:v>23.1</c:v>
                </c:pt>
                <c:pt idx="7">
                  <c:v>29.2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CAC-438A-A0D9-519121D9F5E7}"/>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5E7EB"/>
            </a:solidFill>
          </a:ln>
        </c:spPr>
        <c:txPr>
          <a:bodyPr/>
          <a:lstStyle/>
          <a:p>
            <a:pPr>
              <a:defRPr sz="1200">
                <a:solidFill>
                  <a:srgbClr val="1B1F3B"/>
                </a:solidFill>
                <a:latin typeface="Calibri"/>
              </a:defRPr>
            </a:pPr>
            <a:endParaRPr lang="es-AR"/>
          </a:p>
        </c:txPr>
        <c:crossAx val="-2113994440"/>
        <c:crosses val="autoZero"/>
        <c:auto val="1"/>
        <c:lblAlgn val="ctr"/>
        <c:lblOffset val="100"/>
        <c:noMultiLvlLbl val="0"/>
      </c:catAx>
      <c:valAx>
        <c:axId val="-2113994440"/>
        <c:scaling>
          <c:orientation val="minMax"/>
        </c:scaling>
        <c:delete val="0"/>
        <c:axPos val="b"/>
        <c:majorGridlines>
          <c:spPr>
            <a:ln>
              <a:solidFill>
                <a:srgbClr val="E5E7EB"/>
              </a:solidFill>
            </a:ln>
          </c:spPr>
        </c:majorGridlines>
        <c:title>
          <c:tx>
            <c:rich>
              <a:bodyPr/>
              <a:lstStyle/>
              <a:p>
                <a:r>
                  <a:rPr lang="es-ES" sz="1100">
                    <a:solidFill>
                      <a:srgbClr val="6B7280"/>
                    </a:solidFill>
                    <a:latin typeface="Calibri"/>
                  </a:rPr>
                  <a:t>Premium de precio (%) vs. sin esa comodidad</a:t>
                </a:r>
              </a:p>
            </c:rich>
          </c:tx>
          <c:overlay val="0"/>
        </c:title>
        <c:numFmt formatCode="General" sourceLinked="1"/>
        <c:majorTickMark val="out"/>
        <c:minorTickMark val="none"/>
        <c:tickLblPos val="nextTo"/>
        <c:spPr>
          <a:ln>
            <a:noFill/>
          </a:ln>
        </c:spPr>
        <c:txPr>
          <a:bodyPr/>
          <a:lstStyle/>
          <a:p>
            <a:pPr>
              <a:defRPr sz="900">
                <a:solidFill>
                  <a:srgbClr val="6B7280"/>
                </a:solidFill>
                <a:latin typeface="Calibri"/>
              </a:defRPr>
            </a:pPr>
            <a:endParaRPr lang="es-A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Precio promedio</c:v>
                </c:pt>
              </c:strCache>
            </c:strRef>
          </c:tx>
          <c:spPr>
            <a:solidFill>
              <a:srgbClr val="1E2761"/>
            </a:solidFill>
            <a:ln>
              <a:noFill/>
            </a:ln>
          </c:spPr>
          <c:invertIfNegative val="1"/>
          <c:dLbls>
            <c:numFmt formatCode="&quot;$&quot;#,##0" sourceLinked="0"/>
            <c:spPr>
              <a:noFill/>
              <a:ln>
                <a:noFill/>
              </a:ln>
              <a:effectLst/>
            </c:spPr>
            <c:txPr>
              <a:bodyPr/>
              <a:lstStyle/>
              <a:p>
                <a:pPr>
                  <a:defRPr sz="1000">
                    <a:solidFill>
                      <a:srgbClr val="1B1F3B"/>
                    </a:solidFill>
                    <a:latin typeface="Calibri"/>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Palermo</c:v>
                </c:pt>
                <c:pt idx="1">
                  <c:v>Recoleta</c:v>
                </c:pt>
                <c:pt idx="2">
                  <c:v>San Nicolas</c:v>
                </c:pt>
                <c:pt idx="3">
                  <c:v>Retiro</c:v>
                </c:pt>
                <c:pt idx="4">
                  <c:v>Monserrat</c:v>
                </c:pt>
                <c:pt idx="5">
                  <c:v>Belgrano</c:v>
                </c:pt>
                <c:pt idx="6">
                  <c:v>Balvanera</c:v>
                </c:pt>
                <c:pt idx="7">
                  <c:v>Almagro</c:v>
                </c:pt>
              </c:strCache>
            </c:strRef>
          </c:cat>
          <c:val>
            <c:numRef>
              <c:f>Sheet1!$B$2:$B$9</c:f>
              <c:numCache>
                <c:formatCode>General</c:formatCode>
                <c:ptCount val="8"/>
                <c:pt idx="0">
                  <c:v>135290</c:v>
                </c:pt>
                <c:pt idx="1">
                  <c:v>132963</c:v>
                </c:pt>
                <c:pt idx="2">
                  <c:v>115760</c:v>
                </c:pt>
                <c:pt idx="3">
                  <c:v>127240</c:v>
                </c:pt>
                <c:pt idx="4">
                  <c:v>100285</c:v>
                </c:pt>
                <c:pt idx="5">
                  <c:v>127219</c:v>
                </c:pt>
                <c:pt idx="6">
                  <c:v>98093</c:v>
                </c:pt>
                <c:pt idx="7">
                  <c:v>94637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4A8-4F49-9F21-F1ADDF3B0C72}"/>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5E7EB"/>
            </a:solidFill>
          </a:ln>
        </c:spPr>
        <c:txPr>
          <a:bodyPr/>
          <a:lstStyle/>
          <a:p>
            <a:pPr>
              <a:defRPr sz="1200">
                <a:solidFill>
                  <a:srgbClr val="1B1F3B"/>
                </a:solidFill>
                <a:latin typeface="Calibri"/>
              </a:defRPr>
            </a:pPr>
            <a:endParaRPr lang="es-AR"/>
          </a:p>
        </c:txPr>
        <c:crossAx val="-2113994440"/>
        <c:crosses val="autoZero"/>
        <c:auto val="1"/>
        <c:lblAlgn val="ctr"/>
        <c:lblOffset val="100"/>
        <c:noMultiLvlLbl val="0"/>
      </c:catAx>
      <c:valAx>
        <c:axId val="-2113994440"/>
        <c:scaling>
          <c:orientation val="minMax"/>
        </c:scaling>
        <c:delete val="0"/>
        <c:axPos val="l"/>
        <c:majorGridlines>
          <c:spPr>
            <a:ln>
              <a:solidFill>
                <a:srgbClr val="E5E7EB"/>
              </a:solidFill>
            </a:ln>
          </c:spPr>
        </c:majorGridlines>
        <c:title>
          <c:tx>
            <c:rich>
              <a:bodyPr/>
              <a:lstStyle/>
              <a:p>
                <a:r>
                  <a:rPr lang="es-ES" sz="1100">
                    <a:solidFill>
                      <a:srgbClr val="6B7280"/>
                    </a:solidFill>
                    <a:latin typeface="Calibri"/>
                  </a:rPr>
                  <a:t>Precio promedio por noche (ARS)</a:t>
                </a:r>
              </a:p>
            </c:rich>
          </c:tx>
          <c:overlay val="0"/>
        </c:title>
        <c:numFmt formatCode="General" sourceLinked="1"/>
        <c:majorTickMark val="out"/>
        <c:minorTickMark val="none"/>
        <c:tickLblPos val="nextTo"/>
        <c:spPr>
          <a:ln>
            <a:noFill/>
          </a:ln>
        </c:spPr>
        <c:txPr>
          <a:bodyPr/>
          <a:lstStyle/>
          <a:p>
            <a:pPr>
              <a:defRPr sz="900">
                <a:solidFill>
                  <a:srgbClr val="6B7280"/>
                </a:solidFill>
                <a:latin typeface="Calibri"/>
              </a:defRPr>
            </a:pPr>
            <a:endParaRPr lang="es-A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2103120"/>
            <a:ext cx="5486400" cy="5486400"/>
          </a:xfrm>
          <a:prstGeom prst="ellipse">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332720" y="4206240"/>
            <a:ext cx="3291840" cy="3291840"/>
          </a:xfrm>
          <a:prstGeom prst="ellipse">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051560"/>
            <a:ext cx="9601200" cy="365760"/>
          </a:xfrm>
          <a:prstGeom prst="rect">
            <a:avLst/>
          </a:prstGeom>
          <a:noFill/>
        </p:spPr>
        <p:txBody>
          <a:bodyPr wrap="square" lIns="0" tIns="0" rIns="0" bIns="0" anchor="t">
            <a:spAutoFit/>
          </a:bodyPr>
          <a:lstStyle/>
          <a:p>
            <a:pPr algn="l">
              <a:lnSpc>
                <a:spcPct val="100000"/>
              </a:lnSpc>
            </a:pPr>
            <a:r>
              <a:rPr sz="1300" b="1" i="0" spc="150">
                <a:solidFill>
                  <a:srgbClr val="C9A227"/>
                </a:solidFill>
                <a:latin typeface="Calibri"/>
              </a:rPr>
              <a:t>DATA SCIENCE II · MACHINE LEARNING PARA LA CIENCIA DE DATOS</a:t>
            </a:r>
          </a:p>
        </p:txBody>
      </p:sp>
      <p:sp>
        <p:nvSpPr>
          <p:cNvPr id="6" name="TextBox 5"/>
          <p:cNvSpPr txBox="1"/>
          <p:nvPr/>
        </p:nvSpPr>
        <p:spPr>
          <a:xfrm>
            <a:off x="822960" y="1463040"/>
            <a:ext cx="10515600" cy="2377440"/>
          </a:xfrm>
          <a:prstGeom prst="rect">
            <a:avLst/>
          </a:prstGeom>
          <a:noFill/>
        </p:spPr>
        <p:txBody>
          <a:bodyPr wrap="square" lIns="0" tIns="0" rIns="0" bIns="0" anchor="t">
            <a:spAutoFit/>
          </a:bodyPr>
          <a:lstStyle/>
          <a:p>
            <a:pPr algn="l">
              <a:lnSpc>
                <a:spcPct val="108000"/>
              </a:lnSpc>
            </a:pPr>
            <a:r>
              <a:rPr sz="3600" b="1" i="0">
                <a:solidFill>
                  <a:srgbClr val="FFFFFF"/>
                </a:solidFill>
                <a:latin typeface="Cambria"/>
              </a:rPr>
              <a:t>Optimización de Precios y Ocupación</a:t>
            </a:r>
          </a:p>
          <a:p>
            <a:pPr algn="l">
              <a:lnSpc>
                <a:spcPct val="108000"/>
              </a:lnSpc>
            </a:pPr>
            <a:r>
              <a:rPr sz="3600" b="1" i="0">
                <a:solidFill>
                  <a:srgbClr val="FFFFFF"/>
                </a:solidFill>
                <a:latin typeface="Cambria"/>
              </a:rPr>
              <a:t>en Alquileres Temporarios</a:t>
            </a:r>
          </a:p>
        </p:txBody>
      </p:sp>
      <p:sp>
        <p:nvSpPr>
          <p:cNvPr id="7" name="TextBox 6"/>
          <p:cNvSpPr txBox="1"/>
          <p:nvPr/>
        </p:nvSpPr>
        <p:spPr>
          <a:xfrm>
            <a:off x="822960" y="3977639"/>
            <a:ext cx="8046720" cy="822960"/>
          </a:xfrm>
          <a:prstGeom prst="rect">
            <a:avLst/>
          </a:prstGeom>
          <a:noFill/>
        </p:spPr>
        <p:txBody>
          <a:bodyPr wrap="square" lIns="0" tIns="0" rIns="0" bIns="0" anchor="t">
            <a:spAutoFit/>
          </a:bodyPr>
          <a:lstStyle/>
          <a:p>
            <a:pPr algn="l">
              <a:lnSpc>
                <a:spcPct val="100000"/>
              </a:lnSpc>
            </a:pPr>
            <a:r>
              <a:rPr sz="1600" b="0" i="0">
                <a:solidFill>
                  <a:srgbClr val="CADCFC"/>
                </a:solidFill>
                <a:latin typeface="Calibri"/>
              </a:rPr>
              <a:t>Un análisis de Airbnb en la Ciudad Autónoma de Buenos Aires, enriquecido con datos abiertos de OpenStreetMap</a:t>
            </a:r>
          </a:p>
        </p:txBody>
      </p:sp>
      <p:sp>
        <p:nvSpPr>
          <p:cNvPr id="8" name="TextBox 7"/>
          <p:cNvSpPr txBox="1"/>
          <p:nvPr/>
        </p:nvSpPr>
        <p:spPr>
          <a:xfrm>
            <a:off x="822960" y="5897880"/>
            <a:ext cx="8229600" cy="365760"/>
          </a:xfrm>
          <a:prstGeom prst="rect">
            <a:avLst/>
          </a:prstGeom>
          <a:noFill/>
        </p:spPr>
        <p:txBody>
          <a:bodyPr wrap="square" lIns="0" tIns="0" rIns="0" bIns="0" anchor="t">
            <a:spAutoFit/>
          </a:bodyPr>
          <a:lstStyle/>
          <a:p>
            <a:pPr algn="l">
              <a:lnSpc>
                <a:spcPct val="100000"/>
              </a:lnSpc>
            </a:pPr>
            <a:r>
              <a:rPr sz="1300" b="0" i="1" dirty="0">
                <a:solidFill>
                  <a:srgbClr val="9AA6DA"/>
                </a:solidFill>
                <a:latin typeface="Calibri"/>
              </a:rPr>
              <a:t>Primera Entrega — </a:t>
            </a:r>
            <a:r>
              <a:rPr sz="1300" b="0" i="1" dirty="0" err="1">
                <a:solidFill>
                  <a:srgbClr val="9AA6DA"/>
                </a:solidFill>
                <a:latin typeface="Calibri"/>
              </a:rPr>
              <a:t>Obtención</a:t>
            </a:r>
            <a:r>
              <a:rPr sz="1300" b="0" i="1" dirty="0">
                <a:solidFill>
                  <a:srgbClr val="9AA6DA"/>
                </a:solidFill>
                <a:latin typeface="Calibri"/>
              </a:rPr>
              <a:t> de insights a </a:t>
            </a:r>
            <a:r>
              <a:rPr sz="1300" b="0" i="1" dirty="0" err="1">
                <a:solidFill>
                  <a:srgbClr val="9AA6DA"/>
                </a:solidFill>
                <a:latin typeface="Calibri"/>
              </a:rPr>
              <a:t>partir</a:t>
            </a:r>
            <a:r>
              <a:rPr sz="1300" b="0" i="1" dirty="0">
                <a:solidFill>
                  <a:srgbClr val="9AA6DA"/>
                </a:solidFill>
                <a:latin typeface="Calibri"/>
              </a:rPr>
              <a:t> de </a:t>
            </a:r>
            <a:r>
              <a:rPr sz="1300" b="0" i="1" dirty="0" err="1">
                <a:solidFill>
                  <a:srgbClr val="9AA6DA"/>
                </a:solidFill>
                <a:latin typeface="Calibri"/>
              </a:rPr>
              <a:t>visualizaciones</a:t>
            </a:r>
            <a:endParaRPr sz="1300" b="0" i="1" dirty="0">
              <a:solidFill>
                <a:srgbClr val="9AA6DA"/>
              </a:solidFill>
              <a:latin typeface="Calibri"/>
            </a:endParaRPr>
          </a:p>
        </p:txBody>
      </p:sp>
      <p:sp>
        <p:nvSpPr>
          <p:cNvPr id="10" name="TextBox 7">
            <a:extLst>
              <a:ext uri="{FF2B5EF4-FFF2-40B4-BE49-F238E27FC236}">
                <a16:creationId xmlns:a16="http://schemas.microsoft.com/office/drawing/2014/main" id="{2EE31F7F-065B-44C3-480C-1E8D4F3036C9}"/>
              </a:ext>
            </a:extLst>
          </p:cNvPr>
          <p:cNvSpPr txBox="1"/>
          <p:nvPr/>
        </p:nvSpPr>
        <p:spPr>
          <a:xfrm>
            <a:off x="822960" y="6217920"/>
            <a:ext cx="8229600" cy="200055"/>
          </a:xfrm>
          <a:prstGeom prst="rect">
            <a:avLst/>
          </a:prstGeom>
          <a:noFill/>
        </p:spPr>
        <p:txBody>
          <a:bodyPr wrap="square" lIns="0" tIns="0" rIns="0" bIns="0" anchor="t">
            <a:spAutoFit/>
          </a:bodyPr>
          <a:lstStyle/>
          <a:p>
            <a:pPr algn="l">
              <a:lnSpc>
                <a:spcPct val="100000"/>
              </a:lnSpc>
            </a:pPr>
            <a:r>
              <a:rPr lang="es-AR" sz="1300" b="1" dirty="0">
                <a:solidFill>
                  <a:srgbClr val="9AA6DA"/>
                </a:solidFill>
                <a:latin typeface="Calibri"/>
              </a:rPr>
              <a:t>Sofia Algamiz</a:t>
            </a:r>
            <a:endParaRPr sz="1300" b="1" dirty="0">
              <a:solidFill>
                <a:srgbClr val="9AA6DA"/>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ABSTRACT</a:t>
            </a:r>
          </a:p>
        </p:txBody>
      </p:sp>
      <p:sp>
        <p:nvSpPr>
          <p:cNvPr id="4" name="TextBox 3"/>
          <p:cNvSpPr txBox="1"/>
          <p:nvPr/>
        </p:nvSpPr>
        <p:spPr>
          <a:xfrm>
            <a:off x="640080" y="822960"/>
            <a:ext cx="10515600" cy="640080"/>
          </a:xfrm>
          <a:prstGeom prst="rect">
            <a:avLst/>
          </a:prstGeom>
          <a:noFill/>
        </p:spPr>
        <p:txBody>
          <a:bodyPr wrap="square" lIns="0" tIns="0" rIns="0" bIns="0" anchor="t">
            <a:spAutoFit/>
          </a:bodyPr>
          <a:lstStyle/>
          <a:p>
            <a:pPr algn="l">
              <a:lnSpc>
                <a:spcPct val="100000"/>
              </a:lnSpc>
            </a:pPr>
            <a:r>
              <a:rPr sz="3000" b="1" i="0">
                <a:solidFill>
                  <a:srgbClr val="1B1F3B"/>
                </a:solidFill>
                <a:latin typeface="Cambria"/>
              </a:rPr>
              <a:t>Por qué este análisis, y para quién</a:t>
            </a:r>
          </a:p>
        </p:txBody>
      </p:sp>
      <p:sp>
        <p:nvSpPr>
          <p:cNvPr id="5" name="TextBox 4"/>
          <p:cNvSpPr txBox="1"/>
          <p:nvPr/>
        </p:nvSpPr>
        <p:spPr>
          <a:xfrm>
            <a:off x="640080" y="1691640"/>
            <a:ext cx="6035040" cy="2377440"/>
          </a:xfrm>
          <a:prstGeom prst="rect">
            <a:avLst/>
          </a:prstGeom>
          <a:noFill/>
        </p:spPr>
        <p:txBody>
          <a:bodyPr wrap="square" lIns="0" tIns="0" rIns="0" bIns="0" anchor="t">
            <a:spAutoFit/>
          </a:bodyPr>
          <a:lstStyle/>
          <a:p>
            <a:pPr algn="l">
              <a:lnSpc>
                <a:spcPct val="130000"/>
              </a:lnSpc>
            </a:pPr>
            <a:r>
              <a:rPr sz="1500" b="0" i="0">
                <a:solidFill>
                  <a:srgbClr val="1B1F3B"/>
                </a:solidFill>
                <a:latin typeface="Calibri"/>
              </a:rPr>
              <a:t>El alquiler temporario es una de las formas más dinámicas de explotación inmobiliaria en las grandes ciudades. A diferencia del alquiler tradicional, el precio “correcto” de una propiedad depende de variables muy específicas del negocio turístico: ubicación relativa a bares y restaurantes, cercanía al transporte, comodidades ofrecidas y reputación acumulada.</a:t>
            </a:r>
          </a:p>
        </p:txBody>
      </p:sp>
      <p:sp>
        <p:nvSpPr>
          <p:cNvPr id="6" name="TextBox 5"/>
          <p:cNvSpPr txBox="1"/>
          <p:nvPr/>
        </p:nvSpPr>
        <p:spPr>
          <a:xfrm>
            <a:off x="640080" y="3977639"/>
            <a:ext cx="6035040" cy="1645920"/>
          </a:xfrm>
          <a:prstGeom prst="rect">
            <a:avLst/>
          </a:prstGeom>
          <a:noFill/>
        </p:spPr>
        <p:txBody>
          <a:bodyPr wrap="square" lIns="0" tIns="0" rIns="0" bIns="0" anchor="t">
            <a:spAutoFit/>
          </a:bodyPr>
          <a:lstStyle/>
          <a:p>
            <a:pPr algn="l">
              <a:lnSpc>
                <a:spcPct val="130000"/>
              </a:lnSpc>
            </a:pPr>
            <a:r>
              <a:rPr sz="1500" b="0" i="0">
                <a:solidFill>
                  <a:srgbClr val="1B1F3B"/>
                </a:solidFill>
                <a:latin typeface="Calibri"/>
              </a:rPr>
              <a:t>Este proyecto analiza publicaciones activas de Airbnb en CABA, enriquecidas con datos abiertos de OpenStreetMap sobre oferta gastronómica y transporte, para entender qué factores explican el precio y la ocupación de una propiedad.</a:t>
            </a:r>
          </a:p>
        </p:txBody>
      </p:sp>
      <p:sp>
        <p:nvSpPr>
          <p:cNvPr id="7" name="Rounded Rectangle 6"/>
          <p:cNvSpPr/>
          <p:nvPr/>
        </p:nvSpPr>
        <p:spPr>
          <a:xfrm>
            <a:off x="7086600" y="1691640"/>
            <a:ext cx="4434840" cy="393192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452360" y="201168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52360" y="2011680"/>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A</a:t>
            </a:r>
          </a:p>
        </p:txBody>
      </p:sp>
      <p:sp>
        <p:nvSpPr>
          <p:cNvPr id="10" name="TextBox 9"/>
          <p:cNvSpPr txBox="1"/>
          <p:nvPr/>
        </p:nvSpPr>
        <p:spPr>
          <a:xfrm>
            <a:off x="8092440" y="2011680"/>
            <a:ext cx="3200400" cy="502920"/>
          </a:xfrm>
          <a:prstGeom prst="rect">
            <a:avLst/>
          </a:prstGeom>
          <a:noFill/>
        </p:spPr>
        <p:txBody>
          <a:bodyPr wrap="square" lIns="0" tIns="0" rIns="0" bIns="0" anchor="ctr">
            <a:spAutoFit/>
          </a:bodyPr>
          <a:lstStyle/>
          <a:p>
            <a:pPr algn="l">
              <a:lnSpc>
                <a:spcPct val="100000"/>
              </a:lnSpc>
            </a:pPr>
            <a:r>
              <a:rPr sz="1800" b="1" i="0">
                <a:solidFill>
                  <a:srgbClr val="1B1F3B"/>
                </a:solidFill>
                <a:latin typeface="Cambria"/>
              </a:rPr>
              <a:t>Audiencia</a:t>
            </a:r>
          </a:p>
        </p:txBody>
      </p:sp>
      <p:sp>
        <p:nvSpPr>
          <p:cNvPr id="11" name="TextBox 10"/>
          <p:cNvSpPr txBox="1"/>
          <p:nvPr/>
        </p:nvSpPr>
        <p:spPr>
          <a:xfrm>
            <a:off x="7452360" y="2743200"/>
            <a:ext cx="3794760" cy="1463040"/>
          </a:xfrm>
          <a:prstGeom prst="rect">
            <a:avLst/>
          </a:prstGeom>
          <a:noFill/>
        </p:spPr>
        <p:txBody>
          <a:bodyPr wrap="square" lIns="0" tIns="0" rIns="0" bIns="0" anchor="t">
            <a:spAutoFit/>
          </a:bodyPr>
          <a:lstStyle/>
          <a:p>
            <a:pPr algn="l">
              <a:lnSpc>
                <a:spcPct val="130000"/>
              </a:lnSpc>
            </a:pPr>
            <a:r>
              <a:rPr sz="1350" b="0" i="0">
                <a:solidFill>
                  <a:srgbClr val="1B1F3B"/>
                </a:solidFill>
                <a:latin typeface="Calibri"/>
              </a:rPr>
              <a:t>Inversores inmobiliarios y gestores de propiedades de alquiler temporario que evalúan en qué barrio comprar o alquilar una unidad, cómo equiparla y cómo fijar precio.</a:t>
            </a:r>
          </a:p>
        </p:txBody>
      </p:sp>
      <p:sp>
        <p:nvSpPr>
          <p:cNvPr id="12" name="TextBox 11"/>
          <p:cNvSpPr txBox="1"/>
          <p:nvPr/>
        </p:nvSpPr>
        <p:spPr>
          <a:xfrm>
            <a:off x="7452360" y="4297680"/>
            <a:ext cx="3794760" cy="1097280"/>
          </a:xfrm>
          <a:prstGeom prst="rect">
            <a:avLst/>
          </a:prstGeom>
          <a:noFill/>
        </p:spPr>
        <p:txBody>
          <a:bodyPr wrap="square" lIns="0" tIns="0" rIns="0" bIns="0" anchor="t">
            <a:spAutoFit/>
          </a:bodyPr>
          <a:lstStyle/>
          <a:p>
            <a:pPr algn="l">
              <a:lnSpc>
                <a:spcPct val="130000"/>
              </a:lnSpc>
            </a:pPr>
            <a:r>
              <a:rPr sz="1300" b="0" i="1">
                <a:solidFill>
                  <a:srgbClr val="6B7280"/>
                </a:solidFill>
                <a:latin typeface="Calibri"/>
              </a:rPr>
              <a:t>Sin necesidad de conocimientos técnicos de estadística o programación.</a:t>
            </a:r>
          </a:p>
        </p:txBody>
      </p:sp>
      <p:sp>
        <p:nvSpPr>
          <p:cNvPr id="13" name="TextBox 12"/>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14" name="TextBox 13"/>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LOS DATOS</a:t>
            </a:r>
          </a:p>
        </p:txBody>
      </p:sp>
      <p:sp>
        <p:nvSpPr>
          <p:cNvPr id="4" name="TextBox 3"/>
          <p:cNvSpPr txBox="1"/>
          <p:nvPr/>
        </p:nvSpPr>
        <p:spPr>
          <a:xfrm>
            <a:off x="640080" y="822960"/>
            <a:ext cx="10515600" cy="640080"/>
          </a:xfrm>
          <a:prstGeom prst="rect">
            <a:avLst/>
          </a:prstGeom>
          <a:noFill/>
        </p:spPr>
        <p:txBody>
          <a:bodyPr wrap="square" lIns="0" tIns="0" rIns="0" bIns="0" anchor="t">
            <a:spAutoFit/>
          </a:bodyPr>
          <a:lstStyle/>
          <a:p>
            <a:pPr algn="l">
              <a:lnSpc>
                <a:spcPct val="100000"/>
              </a:lnSpc>
            </a:pPr>
            <a:r>
              <a:rPr sz="3000" b="1" i="0">
                <a:solidFill>
                  <a:srgbClr val="1B1F3B"/>
                </a:solidFill>
                <a:latin typeface="Cambria"/>
              </a:rPr>
              <a:t>Resumen del dataset analizado</a:t>
            </a:r>
          </a:p>
        </p:txBody>
      </p:sp>
      <p:sp>
        <p:nvSpPr>
          <p:cNvPr id="5" name="TextBox 4"/>
          <p:cNvSpPr txBox="1"/>
          <p:nvPr/>
        </p:nvSpPr>
        <p:spPr>
          <a:xfrm>
            <a:off x="640080" y="1417320"/>
            <a:ext cx="10789920" cy="365760"/>
          </a:xfrm>
          <a:prstGeom prst="rect">
            <a:avLst/>
          </a:prstGeom>
          <a:noFill/>
        </p:spPr>
        <p:txBody>
          <a:bodyPr wrap="square" lIns="0" tIns="0" rIns="0" bIns="0" anchor="t">
            <a:spAutoFit/>
          </a:bodyPr>
          <a:lstStyle/>
          <a:p>
            <a:pPr algn="l">
              <a:lnSpc>
                <a:spcPct val="100000"/>
              </a:lnSpc>
            </a:pPr>
            <a:r>
              <a:rPr sz="1300" b="0" i="0">
                <a:solidFill>
                  <a:srgbClr val="6B7280"/>
                </a:solidFill>
                <a:latin typeface="Calibri"/>
              </a:rPr>
              <a:t>Fuente: Inside Airbnb (scrape 29/06/2026) enriquecido con densidad de puntos de interés de OpenStreetMap (Overpass API).</a:t>
            </a:r>
          </a:p>
        </p:txBody>
      </p:sp>
      <p:sp>
        <p:nvSpPr>
          <p:cNvPr id="6" name="Rounded Rectangle 5"/>
          <p:cNvSpPr/>
          <p:nvPr/>
        </p:nvSpPr>
        <p:spPr>
          <a:xfrm>
            <a:off x="640080" y="205740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2199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27.166</a:t>
            </a:r>
          </a:p>
        </p:txBody>
      </p:sp>
      <p:sp>
        <p:nvSpPr>
          <p:cNvPr id="8" name="TextBox 7"/>
          <p:cNvSpPr txBox="1"/>
          <p:nvPr/>
        </p:nvSpPr>
        <p:spPr>
          <a:xfrm>
            <a:off x="868680" y="301752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publicaciones activas</a:t>
            </a:r>
          </a:p>
          <a:p>
            <a:pPr algn="l">
              <a:lnSpc>
                <a:spcPct val="115000"/>
              </a:lnSpc>
            </a:pPr>
            <a:r>
              <a:rPr sz="1250" b="0" i="0">
                <a:solidFill>
                  <a:srgbClr val="6B7280"/>
                </a:solidFill>
                <a:latin typeface="Calibri"/>
              </a:rPr>
              <a:t>analizadas (de 29.685 crudas)</a:t>
            </a:r>
          </a:p>
        </p:txBody>
      </p:sp>
      <p:sp>
        <p:nvSpPr>
          <p:cNvPr id="9" name="Rounded Rectangle 8"/>
          <p:cNvSpPr/>
          <p:nvPr/>
        </p:nvSpPr>
        <p:spPr>
          <a:xfrm>
            <a:off x="4389120" y="205740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222199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90</a:t>
            </a:r>
          </a:p>
        </p:txBody>
      </p:sp>
      <p:sp>
        <p:nvSpPr>
          <p:cNvPr id="11" name="TextBox 10"/>
          <p:cNvSpPr txBox="1"/>
          <p:nvPr/>
        </p:nvSpPr>
        <p:spPr>
          <a:xfrm>
            <a:off x="4617720" y="301752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variables originales por</a:t>
            </a:r>
          </a:p>
          <a:p>
            <a:pPr algn="l">
              <a:lnSpc>
                <a:spcPct val="115000"/>
              </a:lnSpc>
            </a:pPr>
            <a:r>
              <a:rPr sz="1250" b="0" i="0">
                <a:solidFill>
                  <a:srgbClr val="6B7280"/>
                </a:solidFill>
                <a:latin typeface="Calibri"/>
              </a:rPr>
              <a:t>publicación (90 → 31 curadas)</a:t>
            </a:r>
          </a:p>
        </p:txBody>
      </p:sp>
      <p:sp>
        <p:nvSpPr>
          <p:cNvPr id="12" name="Rounded Rectangle 11"/>
          <p:cNvSpPr/>
          <p:nvPr/>
        </p:nvSpPr>
        <p:spPr>
          <a:xfrm>
            <a:off x="8138159" y="205740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66759" y="222199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48</a:t>
            </a:r>
          </a:p>
        </p:txBody>
      </p:sp>
      <p:sp>
        <p:nvSpPr>
          <p:cNvPr id="14" name="TextBox 13"/>
          <p:cNvSpPr txBox="1"/>
          <p:nvPr/>
        </p:nvSpPr>
        <p:spPr>
          <a:xfrm>
            <a:off x="8366759" y="301752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barrios de la Ciudad</a:t>
            </a:r>
          </a:p>
          <a:p>
            <a:pPr algn="l">
              <a:lnSpc>
                <a:spcPct val="115000"/>
              </a:lnSpc>
            </a:pPr>
            <a:r>
              <a:rPr sz="1250" b="0" i="0">
                <a:solidFill>
                  <a:srgbClr val="6B7280"/>
                </a:solidFill>
                <a:latin typeface="Calibri"/>
              </a:rPr>
              <a:t>Autónoma de Buenos Aires</a:t>
            </a:r>
          </a:p>
        </p:txBody>
      </p:sp>
      <p:sp>
        <p:nvSpPr>
          <p:cNvPr id="15" name="Rounded Rectangle 14"/>
          <p:cNvSpPr/>
          <p:nvPr/>
        </p:nvSpPr>
        <p:spPr>
          <a:xfrm>
            <a:off x="640080" y="406908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23367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$100.964</a:t>
            </a:r>
          </a:p>
        </p:txBody>
      </p:sp>
      <p:sp>
        <p:nvSpPr>
          <p:cNvPr id="17" name="TextBox 16"/>
          <p:cNvSpPr txBox="1"/>
          <p:nvPr/>
        </p:nvSpPr>
        <p:spPr>
          <a:xfrm>
            <a:off x="868680" y="502920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precio mediano</a:t>
            </a:r>
          </a:p>
          <a:p>
            <a:pPr algn="l">
              <a:lnSpc>
                <a:spcPct val="115000"/>
              </a:lnSpc>
            </a:pPr>
            <a:r>
              <a:rPr sz="1250" b="0" i="0">
                <a:solidFill>
                  <a:srgbClr val="6B7280"/>
                </a:solidFill>
                <a:latin typeface="Calibri"/>
              </a:rPr>
              <a:t>por noche (ARS)</a:t>
            </a:r>
          </a:p>
        </p:txBody>
      </p:sp>
      <p:sp>
        <p:nvSpPr>
          <p:cNvPr id="18" name="Rounded Rectangle 17"/>
          <p:cNvSpPr/>
          <p:nvPr/>
        </p:nvSpPr>
        <p:spPr>
          <a:xfrm>
            <a:off x="4389120" y="406908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423367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21.1%</a:t>
            </a:r>
          </a:p>
        </p:txBody>
      </p:sp>
      <p:sp>
        <p:nvSpPr>
          <p:cNvPr id="20" name="TextBox 19"/>
          <p:cNvSpPr txBox="1"/>
          <p:nvPr/>
        </p:nvSpPr>
        <p:spPr>
          <a:xfrm>
            <a:off x="4617720" y="502920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ocupación estimada</a:t>
            </a:r>
          </a:p>
          <a:p>
            <a:pPr algn="l">
              <a:lnSpc>
                <a:spcPct val="115000"/>
              </a:lnSpc>
            </a:pPr>
            <a:r>
              <a:rPr sz="1250" b="0" i="0">
                <a:solidFill>
                  <a:srgbClr val="6B7280"/>
                </a:solidFill>
                <a:latin typeface="Calibri"/>
              </a:rPr>
              <a:t>promedio (últimos 365 días)</a:t>
            </a:r>
          </a:p>
        </p:txBody>
      </p:sp>
      <p:sp>
        <p:nvSpPr>
          <p:cNvPr id="21" name="Rounded Rectangle 20"/>
          <p:cNvSpPr/>
          <p:nvPr/>
        </p:nvSpPr>
        <p:spPr>
          <a:xfrm>
            <a:off x="8138159" y="4069080"/>
            <a:ext cx="3520440" cy="178308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66759" y="4233672"/>
            <a:ext cx="3063240" cy="777240"/>
          </a:xfrm>
          <a:prstGeom prst="rect">
            <a:avLst/>
          </a:prstGeom>
          <a:noFill/>
        </p:spPr>
        <p:txBody>
          <a:bodyPr wrap="square" lIns="0" tIns="0" rIns="0" bIns="0" anchor="t">
            <a:spAutoFit/>
          </a:bodyPr>
          <a:lstStyle/>
          <a:p>
            <a:pPr algn="l">
              <a:lnSpc>
                <a:spcPct val="100000"/>
              </a:lnSpc>
            </a:pPr>
            <a:r>
              <a:rPr sz="3400" b="1" i="0">
                <a:solidFill>
                  <a:srgbClr val="1E2761"/>
                </a:solidFill>
                <a:latin typeface="Cambria"/>
              </a:rPr>
              <a:t>32.9</a:t>
            </a:r>
          </a:p>
        </p:txBody>
      </p:sp>
      <p:sp>
        <p:nvSpPr>
          <p:cNvPr id="23" name="TextBox 22"/>
          <p:cNvSpPr txBox="1"/>
          <p:nvPr/>
        </p:nvSpPr>
        <p:spPr>
          <a:xfrm>
            <a:off x="8366759" y="5029200"/>
            <a:ext cx="3063240" cy="731520"/>
          </a:xfrm>
          <a:prstGeom prst="rect">
            <a:avLst/>
          </a:prstGeom>
          <a:noFill/>
        </p:spPr>
        <p:txBody>
          <a:bodyPr wrap="square" lIns="0" tIns="0" rIns="0" bIns="0" anchor="t">
            <a:spAutoFit/>
          </a:bodyPr>
          <a:lstStyle/>
          <a:p>
            <a:pPr algn="l">
              <a:lnSpc>
                <a:spcPct val="115000"/>
              </a:lnSpc>
            </a:pPr>
            <a:r>
              <a:rPr sz="1250" b="0" i="0">
                <a:solidFill>
                  <a:srgbClr val="6B7280"/>
                </a:solidFill>
                <a:latin typeface="Calibri"/>
              </a:rPr>
              <a:t>comodidades (amenities)</a:t>
            </a:r>
          </a:p>
          <a:p>
            <a:pPr algn="l">
              <a:lnSpc>
                <a:spcPct val="115000"/>
              </a:lnSpc>
            </a:pPr>
            <a:r>
              <a:rPr sz="1250" b="0" i="0">
                <a:solidFill>
                  <a:srgbClr val="6B7280"/>
                </a:solidFill>
                <a:latin typeface="Calibri"/>
              </a:rPr>
              <a:t>promedio por propiedad</a:t>
            </a:r>
          </a:p>
        </p:txBody>
      </p:sp>
      <p:sp>
        <p:nvSpPr>
          <p:cNvPr id="24" name="TextBox 23"/>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25" name="TextBox 24"/>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EL PROBLEMA</a:t>
            </a:r>
          </a:p>
        </p:txBody>
      </p:sp>
      <p:sp>
        <p:nvSpPr>
          <p:cNvPr id="4" name="TextBox 3"/>
          <p:cNvSpPr txBox="1"/>
          <p:nvPr/>
        </p:nvSpPr>
        <p:spPr>
          <a:xfrm>
            <a:off x="640080" y="822960"/>
            <a:ext cx="10789920" cy="640080"/>
          </a:xfrm>
          <a:prstGeom prst="rect">
            <a:avLst/>
          </a:prstGeom>
          <a:noFill/>
        </p:spPr>
        <p:txBody>
          <a:bodyPr wrap="square" lIns="0" tIns="0" rIns="0" bIns="0" anchor="t">
            <a:spAutoFit/>
          </a:bodyPr>
          <a:lstStyle/>
          <a:p>
            <a:pPr algn="l">
              <a:lnSpc>
                <a:spcPct val="100000"/>
              </a:lnSpc>
            </a:pPr>
            <a:r>
              <a:rPr sz="2800" b="1" i="0">
                <a:solidFill>
                  <a:srgbClr val="1B1F3B"/>
                </a:solidFill>
                <a:latin typeface="Cambria"/>
              </a:rPr>
              <a:t>Tres preguntas para optimizar precio y ocupación</a:t>
            </a:r>
          </a:p>
        </p:txBody>
      </p:sp>
      <p:sp>
        <p:nvSpPr>
          <p:cNvPr id="5" name="Rounded Rectangle 4"/>
          <p:cNvSpPr/>
          <p:nvPr/>
        </p:nvSpPr>
        <p:spPr>
          <a:xfrm>
            <a:off x="640080" y="1737360"/>
            <a:ext cx="3520440" cy="3977639"/>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2057400"/>
            <a:ext cx="594360" cy="5943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594360" cy="594360"/>
          </a:xfrm>
          <a:prstGeom prst="rect">
            <a:avLst/>
          </a:prstGeom>
          <a:noFill/>
        </p:spPr>
        <p:txBody>
          <a:bodyPr wrap="square" lIns="0" tIns="0" rIns="0" bIns="0" anchor="ctr">
            <a:spAutoFit/>
          </a:bodyPr>
          <a:lstStyle/>
          <a:p>
            <a:pPr algn="ctr">
              <a:lnSpc>
                <a:spcPct val="100000"/>
              </a:lnSpc>
            </a:pPr>
            <a:r>
              <a:rPr sz="2400" b="1" i="0">
                <a:solidFill>
                  <a:srgbClr val="FFFFFF"/>
                </a:solidFill>
                <a:latin typeface="Calibri"/>
              </a:rPr>
              <a:t>1</a:t>
            </a:r>
          </a:p>
        </p:txBody>
      </p:sp>
      <p:sp>
        <p:nvSpPr>
          <p:cNvPr id="8" name="TextBox 7"/>
          <p:cNvSpPr txBox="1"/>
          <p:nvPr/>
        </p:nvSpPr>
        <p:spPr>
          <a:xfrm>
            <a:off x="914400" y="2880360"/>
            <a:ext cx="2971800" cy="914400"/>
          </a:xfrm>
          <a:prstGeom prst="rect">
            <a:avLst/>
          </a:prstGeom>
          <a:noFill/>
        </p:spPr>
        <p:txBody>
          <a:bodyPr wrap="square" lIns="0" tIns="0" rIns="0" bIns="0" anchor="t">
            <a:spAutoFit/>
          </a:bodyPr>
          <a:lstStyle/>
          <a:p>
            <a:pPr algn="l">
              <a:lnSpc>
                <a:spcPct val="110000"/>
              </a:lnSpc>
            </a:pPr>
            <a:r>
              <a:rPr sz="1800" b="1" i="0">
                <a:solidFill>
                  <a:srgbClr val="1B1F3B"/>
                </a:solidFill>
                <a:latin typeface="Cambria"/>
              </a:rPr>
              <a:t>Densidad de puntos de interés</a:t>
            </a:r>
          </a:p>
        </p:txBody>
      </p:sp>
      <p:sp>
        <p:nvSpPr>
          <p:cNvPr id="9" name="TextBox 8"/>
          <p:cNvSpPr txBox="1"/>
          <p:nvPr/>
        </p:nvSpPr>
        <p:spPr>
          <a:xfrm>
            <a:off x="914400" y="3886200"/>
            <a:ext cx="2971800" cy="1645920"/>
          </a:xfrm>
          <a:prstGeom prst="rect">
            <a:avLst/>
          </a:prstGeom>
          <a:noFill/>
        </p:spPr>
        <p:txBody>
          <a:bodyPr wrap="square" lIns="0" tIns="0" rIns="0" bIns="0" anchor="t">
            <a:spAutoFit/>
          </a:bodyPr>
          <a:lstStyle/>
          <a:p>
            <a:pPr algn="l">
              <a:lnSpc>
                <a:spcPct val="130000"/>
              </a:lnSpc>
            </a:pPr>
            <a:r>
              <a:rPr sz="1350" b="0" i="0">
                <a:solidFill>
                  <a:srgbClr val="6B7280"/>
                </a:solidFill>
                <a:latin typeface="Calibri"/>
              </a:rPr>
              <a:t>¿Los barrios con más oferta gastronómica y transporte cercano tienen precios más altos?</a:t>
            </a:r>
          </a:p>
        </p:txBody>
      </p:sp>
      <p:sp>
        <p:nvSpPr>
          <p:cNvPr id="10" name="Rounded Rectangle 9"/>
          <p:cNvSpPr/>
          <p:nvPr/>
        </p:nvSpPr>
        <p:spPr>
          <a:xfrm>
            <a:off x="4389120" y="1737360"/>
            <a:ext cx="3520440" cy="3977639"/>
          </a:xfrm>
          <a:prstGeom prst="roundRect">
            <a:avLst>
              <a:gd name="adj" fmla="val 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63440" y="2057400"/>
            <a:ext cx="594360" cy="5943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57400"/>
            <a:ext cx="594360" cy="594360"/>
          </a:xfrm>
          <a:prstGeom prst="rect">
            <a:avLst/>
          </a:prstGeom>
          <a:noFill/>
        </p:spPr>
        <p:txBody>
          <a:bodyPr wrap="square" lIns="0" tIns="0" rIns="0" bIns="0" anchor="ctr">
            <a:spAutoFit/>
          </a:bodyPr>
          <a:lstStyle/>
          <a:p>
            <a:pPr algn="ctr">
              <a:lnSpc>
                <a:spcPct val="100000"/>
              </a:lnSpc>
            </a:pPr>
            <a:r>
              <a:rPr sz="2400" b="1" i="0">
                <a:solidFill>
                  <a:srgbClr val="1B1F3B"/>
                </a:solidFill>
                <a:latin typeface="Calibri"/>
              </a:rPr>
              <a:t>2</a:t>
            </a:r>
          </a:p>
        </p:txBody>
      </p:sp>
      <p:sp>
        <p:nvSpPr>
          <p:cNvPr id="13" name="TextBox 12"/>
          <p:cNvSpPr txBox="1"/>
          <p:nvPr/>
        </p:nvSpPr>
        <p:spPr>
          <a:xfrm>
            <a:off x="4663440" y="2880360"/>
            <a:ext cx="2971800" cy="914400"/>
          </a:xfrm>
          <a:prstGeom prst="rect">
            <a:avLst/>
          </a:prstGeom>
          <a:noFill/>
        </p:spPr>
        <p:txBody>
          <a:bodyPr wrap="square" lIns="0" tIns="0" rIns="0" bIns="0" anchor="t">
            <a:spAutoFit/>
          </a:bodyPr>
          <a:lstStyle/>
          <a:p>
            <a:pPr algn="l">
              <a:lnSpc>
                <a:spcPct val="110000"/>
              </a:lnSpc>
            </a:pPr>
            <a:r>
              <a:rPr sz="1800" b="1" i="0">
                <a:solidFill>
                  <a:srgbClr val="FFFFFF"/>
                </a:solidFill>
                <a:latin typeface="Cambria"/>
              </a:rPr>
              <a:t>Reviews y tarifa diaria</a:t>
            </a:r>
          </a:p>
        </p:txBody>
      </p:sp>
      <p:sp>
        <p:nvSpPr>
          <p:cNvPr id="14" name="TextBox 13"/>
          <p:cNvSpPr txBox="1"/>
          <p:nvPr/>
        </p:nvSpPr>
        <p:spPr>
          <a:xfrm>
            <a:off x="4663440" y="3886200"/>
            <a:ext cx="2971800" cy="1645920"/>
          </a:xfrm>
          <a:prstGeom prst="rect">
            <a:avLst/>
          </a:prstGeom>
          <a:noFill/>
        </p:spPr>
        <p:txBody>
          <a:bodyPr wrap="square" lIns="0" tIns="0" rIns="0" bIns="0" anchor="t">
            <a:spAutoFit/>
          </a:bodyPr>
          <a:lstStyle/>
          <a:p>
            <a:pPr algn="l">
              <a:lnSpc>
                <a:spcPct val="130000"/>
              </a:lnSpc>
            </a:pPr>
            <a:r>
              <a:rPr sz="1350" b="0" i="0">
                <a:solidFill>
                  <a:srgbClr val="CADCFC"/>
                </a:solidFill>
                <a:latin typeface="Calibri"/>
              </a:rPr>
              <a:t>¿Las propiedades mejor valoradas por sus huéspedes logran cobrar tarifas más altas?</a:t>
            </a:r>
          </a:p>
        </p:txBody>
      </p:sp>
      <p:sp>
        <p:nvSpPr>
          <p:cNvPr id="15" name="Rounded Rectangle 14"/>
          <p:cNvSpPr/>
          <p:nvPr/>
        </p:nvSpPr>
        <p:spPr>
          <a:xfrm>
            <a:off x="8138159" y="1737360"/>
            <a:ext cx="3520440" cy="3977639"/>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412480" y="2057400"/>
            <a:ext cx="594360" cy="5943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057400"/>
            <a:ext cx="594360" cy="594360"/>
          </a:xfrm>
          <a:prstGeom prst="rect">
            <a:avLst/>
          </a:prstGeom>
          <a:noFill/>
        </p:spPr>
        <p:txBody>
          <a:bodyPr wrap="square" lIns="0" tIns="0" rIns="0" bIns="0" anchor="ctr">
            <a:spAutoFit/>
          </a:bodyPr>
          <a:lstStyle/>
          <a:p>
            <a:pPr algn="ctr">
              <a:lnSpc>
                <a:spcPct val="100000"/>
              </a:lnSpc>
            </a:pPr>
            <a:r>
              <a:rPr sz="2400" b="1" i="0">
                <a:solidFill>
                  <a:srgbClr val="FFFFFF"/>
                </a:solidFill>
                <a:latin typeface="Calibri"/>
              </a:rPr>
              <a:t>3</a:t>
            </a:r>
          </a:p>
        </p:txBody>
      </p:sp>
      <p:sp>
        <p:nvSpPr>
          <p:cNvPr id="18" name="TextBox 17"/>
          <p:cNvSpPr txBox="1"/>
          <p:nvPr/>
        </p:nvSpPr>
        <p:spPr>
          <a:xfrm>
            <a:off x="8412480" y="2880360"/>
            <a:ext cx="2971800" cy="914400"/>
          </a:xfrm>
          <a:prstGeom prst="rect">
            <a:avLst/>
          </a:prstGeom>
          <a:noFill/>
        </p:spPr>
        <p:txBody>
          <a:bodyPr wrap="square" lIns="0" tIns="0" rIns="0" bIns="0" anchor="t">
            <a:spAutoFit/>
          </a:bodyPr>
          <a:lstStyle/>
          <a:p>
            <a:pPr algn="l">
              <a:lnSpc>
                <a:spcPct val="110000"/>
              </a:lnSpc>
            </a:pPr>
            <a:r>
              <a:rPr sz="1800" b="1" i="0">
                <a:solidFill>
                  <a:srgbClr val="1B1F3B"/>
                </a:solidFill>
                <a:latin typeface="Cambria"/>
              </a:rPr>
              <a:t>Premium por comodidades</a:t>
            </a:r>
          </a:p>
        </p:txBody>
      </p:sp>
      <p:sp>
        <p:nvSpPr>
          <p:cNvPr id="19" name="TextBox 18"/>
          <p:cNvSpPr txBox="1"/>
          <p:nvPr/>
        </p:nvSpPr>
        <p:spPr>
          <a:xfrm>
            <a:off x="8412480" y="3886200"/>
            <a:ext cx="2971800" cy="1645920"/>
          </a:xfrm>
          <a:prstGeom prst="rect">
            <a:avLst/>
          </a:prstGeom>
          <a:noFill/>
        </p:spPr>
        <p:txBody>
          <a:bodyPr wrap="square" lIns="0" tIns="0" rIns="0" bIns="0" anchor="t">
            <a:spAutoFit/>
          </a:bodyPr>
          <a:lstStyle/>
          <a:p>
            <a:pPr algn="l">
              <a:lnSpc>
                <a:spcPct val="130000"/>
              </a:lnSpc>
            </a:pPr>
            <a:r>
              <a:rPr sz="1350" b="0" i="0">
                <a:solidFill>
                  <a:srgbClr val="6B7280"/>
                </a:solidFill>
                <a:latin typeface="Calibri"/>
              </a:rPr>
              <a:t>¿Qué amenities (pileta, cochera, aire acondicionado…) generan un salto real de precio?</a:t>
            </a:r>
          </a:p>
        </p:txBody>
      </p:sp>
      <p:sp>
        <p:nvSpPr>
          <p:cNvPr id="20" name="TextBox 19"/>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21" name="TextBox 20"/>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457200" cy="457200"/>
          </a:xfrm>
          <a:prstGeom prst="rect">
            <a:avLst/>
          </a:prstGeom>
          <a:noFill/>
        </p:spPr>
        <p:txBody>
          <a:bodyPr wrap="square" lIns="0" tIns="0" rIns="0" bIns="0" anchor="ctr">
            <a:spAutoFit/>
          </a:bodyPr>
          <a:lstStyle/>
          <a:p>
            <a:pPr algn="ctr">
              <a:lnSpc>
                <a:spcPct val="100000"/>
              </a:lnSpc>
            </a:pPr>
            <a:r>
              <a:rPr sz="1600" b="1" i="0">
                <a:solidFill>
                  <a:srgbClr val="FFFFFF"/>
                </a:solidFill>
                <a:latin typeface="Calibri"/>
              </a:rPr>
              <a:t>1</a:t>
            </a:r>
          </a:p>
        </p:txBody>
      </p:sp>
      <p:sp>
        <p:nvSpPr>
          <p:cNvPr id="5" name="TextBox 4"/>
          <p:cNvSpPr txBox="1"/>
          <p:nvPr/>
        </p:nvSpPr>
        <p:spPr>
          <a:xfrm>
            <a:off x="1280160" y="457200"/>
            <a:ext cx="9144000" cy="548640"/>
          </a:xfrm>
          <a:prstGeom prst="rect">
            <a:avLst/>
          </a:prstGeom>
          <a:noFill/>
        </p:spPr>
        <p:txBody>
          <a:bodyPr wrap="square" lIns="0" tIns="0" rIns="0" bIns="0" anchor="ctr">
            <a:spAutoFit/>
          </a:bodyPr>
          <a:lstStyle/>
          <a:p>
            <a:pPr algn="l">
              <a:lnSpc>
                <a:spcPct val="100000"/>
              </a:lnSpc>
            </a:pPr>
            <a:r>
              <a:rPr sz="2600" b="1" i="0">
                <a:solidFill>
                  <a:srgbClr val="1B1F3B"/>
                </a:solidFill>
                <a:latin typeface="Cambria"/>
              </a:rPr>
              <a:t>Densidad de puntos de interés vs. precio</a:t>
            </a:r>
          </a:p>
        </p:txBody>
      </p:sp>
      <p:graphicFrame>
        <p:nvGraphicFramePr>
          <p:cNvPr id="6" name="Chart 5"/>
          <p:cNvGraphicFramePr>
            <a:graphicFrameLocks noGrp="1"/>
          </p:cNvGraphicFramePr>
          <p:nvPr/>
        </p:nvGraphicFramePr>
        <p:xfrm>
          <a:off x="548640" y="1234440"/>
          <a:ext cx="6949440"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7726679" y="1234440"/>
            <a:ext cx="3840480" cy="502920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0" y="1463040"/>
            <a:ext cx="3291840" cy="548640"/>
          </a:xfrm>
          <a:prstGeom prst="rect">
            <a:avLst/>
          </a:prstGeom>
          <a:noFill/>
        </p:spPr>
        <p:txBody>
          <a:bodyPr wrap="square" lIns="0" tIns="0" rIns="0" bIns="0" anchor="t">
            <a:spAutoFit/>
          </a:bodyPr>
          <a:lstStyle/>
          <a:p>
            <a:pPr algn="l">
              <a:lnSpc>
                <a:spcPct val="100000"/>
              </a:lnSpc>
            </a:pPr>
            <a:r>
              <a:rPr sz="1300" b="1" i="0">
                <a:solidFill>
                  <a:srgbClr val="1B1F3B"/>
                </a:solidFill>
                <a:latin typeface="Calibri"/>
              </a:rPr>
              <a:t>Cada punto es un barrio de CABA</a:t>
            </a:r>
          </a:p>
        </p:txBody>
      </p:sp>
      <p:sp>
        <p:nvSpPr>
          <p:cNvPr id="9" name="TextBox 8"/>
          <p:cNvSpPr txBox="1"/>
          <p:nvPr/>
        </p:nvSpPr>
        <p:spPr>
          <a:xfrm>
            <a:off x="8001000" y="1965960"/>
            <a:ext cx="3291840" cy="914400"/>
          </a:xfrm>
          <a:prstGeom prst="rect">
            <a:avLst/>
          </a:prstGeom>
          <a:noFill/>
        </p:spPr>
        <p:txBody>
          <a:bodyPr wrap="square" lIns="0" tIns="0" rIns="0" bIns="0" anchor="t">
            <a:spAutoFit/>
          </a:bodyPr>
          <a:lstStyle/>
          <a:p>
            <a:pPr algn="l">
              <a:lnSpc>
                <a:spcPct val="100000"/>
              </a:lnSpc>
            </a:pPr>
            <a:r>
              <a:rPr sz="4400" b="1" i="0">
                <a:solidFill>
                  <a:srgbClr val="1E2761"/>
                </a:solidFill>
                <a:latin typeface="Cambria"/>
              </a:rPr>
              <a:t>0.3</a:t>
            </a:r>
          </a:p>
        </p:txBody>
      </p:sp>
      <p:sp>
        <p:nvSpPr>
          <p:cNvPr id="10" name="TextBox 9"/>
          <p:cNvSpPr txBox="1"/>
          <p:nvPr/>
        </p:nvSpPr>
        <p:spPr>
          <a:xfrm>
            <a:off x="8001000" y="2880360"/>
            <a:ext cx="3291840" cy="822960"/>
          </a:xfrm>
          <a:prstGeom prst="rect">
            <a:avLst/>
          </a:prstGeom>
          <a:noFill/>
        </p:spPr>
        <p:txBody>
          <a:bodyPr wrap="square" lIns="0" tIns="0" rIns="0" bIns="0" anchor="t">
            <a:spAutoFit/>
          </a:bodyPr>
          <a:lstStyle/>
          <a:p>
            <a:pPr algn="l">
              <a:lnSpc>
                <a:spcPct val="125000"/>
              </a:lnSpc>
            </a:pPr>
            <a:r>
              <a:rPr sz="1250" b="0" i="0">
                <a:solidFill>
                  <a:srgbClr val="6B7280"/>
                </a:solidFill>
                <a:latin typeface="Calibri"/>
              </a:rPr>
              <a:t>correlación entre densidad de POI y precio promedio por barrio</a:t>
            </a:r>
          </a:p>
        </p:txBody>
      </p:sp>
      <p:sp>
        <p:nvSpPr>
          <p:cNvPr id="11" name="TextBox 10"/>
          <p:cNvSpPr txBox="1"/>
          <p:nvPr/>
        </p:nvSpPr>
        <p:spPr>
          <a:xfrm>
            <a:off x="8001000" y="3840480"/>
            <a:ext cx="3291840" cy="2286000"/>
          </a:xfrm>
          <a:prstGeom prst="rect">
            <a:avLst/>
          </a:prstGeom>
          <a:noFill/>
        </p:spPr>
        <p:txBody>
          <a:bodyPr wrap="square" lIns="0" tIns="0" rIns="0" bIns="0" anchor="t">
            <a:spAutoFit/>
          </a:bodyPr>
          <a:lstStyle/>
          <a:p>
            <a:pPr algn="l">
              <a:lnSpc>
                <a:spcPct val="130000"/>
              </a:lnSpc>
            </a:pPr>
            <a:r>
              <a:rPr sz="1250" b="0" i="0">
                <a:solidFill>
                  <a:srgbClr val="1B1F3B"/>
                </a:solidFill>
                <a:latin typeface="Calibri"/>
              </a:rPr>
              <a:t>Lectura ejecutiva: la caminabilidad hacia oferta gastronómica y transporte es un factor de pricing a considerar junto con el tamaño y tipo de propiedad — no sustituye a otras variables, pero suma valor de ubicación medible.</a:t>
            </a:r>
          </a:p>
        </p:txBody>
      </p:sp>
      <p:sp>
        <p:nvSpPr>
          <p:cNvPr id="12" name="TextBox 11"/>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13" name="TextBox 12"/>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457200" cy="457200"/>
          </a:xfrm>
          <a:prstGeom prst="rect">
            <a:avLst/>
          </a:prstGeom>
          <a:noFill/>
        </p:spPr>
        <p:txBody>
          <a:bodyPr wrap="square" lIns="0" tIns="0" rIns="0" bIns="0" anchor="ctr">
            <a:spAutoFit/>
          </a:bodyPr>
          <a:lstStyle/>
          <a:p>
            <a:pPr algn="ctr">
              <a:lnSpc>
                <a:spcPct val="100000"/>
              </a:lnSpc>
            </a:pPr>
            <a:r>
              <a:rPr sz="1600" b="1" i="0">
                <a:solidFill>
                  <a:srgbClr val="FFFFFF"/>
                </a:solidFill>
                <a:latin typeface="Calibri"/>
              </a:rPr>
              <a:t>2</a:t>
            </a:r>
          </a:p>
        </p:txBody>
      </p:sp>
      <p:sp>
        <p:nvSpPr>
          <p:cNvPr id="5" name="TextBox 4"/>
          <p:cNvSpPr txBox="1"/>
          <p:nvPr/>
        </p:nvSpPr>
        <p:spPr>
          <a:xfrm>
            <a:off x="1280160" y="457200"/>
            <a:ext cx="9144000" cy="548640"/>
          </a:xfrm>
          <a:prstGeom prst="rect">
            <a:avLst/>
          </a:prstGeom>
          <a:noFill/>
        </p:spPr>
        <p:txBody>
          <a:bodyPr wrap="square" lIns="0" tIns="0" rIns="0" bIns="0" anchor="ctr">
            <a:spAutoFit/>
          </a:bodyPr>
          <a:lstStyle/>
          <a:p>
            <a:pPr algn="l">
              <a:lnSpc>
                <a:spcPct val="100000"/>
              </a:lnSpc>
            </a:pPr>
            <a:r>
              <a:rPr sz="2600" b="1" i="0">
                <a:solidFill>
                  <a:srgbClr val="1B1F3B"/>
                </a:solidFill>
                <a:latin typeface="Cambria"/>
              </a:rPr>
              <a:t>Reviews vs. tarifa promedio diaria</a:t>
            </a:r>
          </a:p>
        </p:txBody>
      </p:sp>
      <p:graphicFrame>
        <p:nvGraphicFramePr>
          <p:cNvPr id="6" name="Chart 5"/>
          <p:cNvGraphicFramePr>
            <a:graphicFrameLocks noGrp="1"/>
          </p:cNvGraphicFramePr>
          <p:nvPr/>
        </p:nvGraphicFramePr>
        <p:xfrm>
          <a:off x="548640" y="1234440"/>
          <a:ext cx="6949440"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7726679" y="1234440"/>
            <a:ext cx="3840480" cy="502920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0" y="1463040"/>
            <a:ext cx="3291840" cy="457200"/>
          </a:xfrm>
          <a:prstGeom prst="rect">
            <a:avLst/>
          </a:prstGeom>
          <a:noFill/>
        </p:spPr>
        <p:txBody>
          <a:bodyPr wrap="square" lIns="0" tIns="0" rIns="0" bIns="0" anchor="t">
            <a:spAutoFit/>
          </a:bodyPr>
          <a:lstStyle/>
          <a:p>
            <a:pPr algn="l">
              <a:lnSpc>
                <a:spcPct val="100000"/>
              </a:lnSpc>
            </a:pPr>
            <a:r>
              <a:rPr sz="1300" b="1" i="0">
                <a:solidFill>
                  <a:srgbClr val="1B1F3B"/>
                </a:solidFill>
                <a:latin typeface="Calibri"/>
              </a:rPr>
              <a:t>Correlación puntaje ↔ precio</a:t>
            </a:r>
          </a:p>
        </p:txBody>
      </p:sp>
      <p:sp>
        <p:nvSpPr>
          <p:cNvPr id="9" name="TextBox 8"/>
          <p:cNvSpPr txBox="1"/>
          <p:nvPr/>
        </p:nvSpPr>
        <p:spPr>
          <a:xfrm>
            <a:off x="8001000" y="1920240"/>
            <a:ext cx="3291840" cy="914400"/>
          </a:xfrm>
          <a:prstGeom prst="rect">
            <a:avLst/>
          </a:prstGeom>
          <a:noFill/>
        </p:spPr>
        <p:txBody>
          <a:bodyPr wrap="square" lIns="0" tIns="0" rIns="0" bIns="0" anchor="t">
            <a:spAutoFit/>
          </a:bodyPr>
          <a:lstStyle/>
          <a:p>
            <a:pPr algn="l">
              <a:lnSpc>
                <a:spcPct val="100000"/>
              </a:lnSpc>
            </a:pPr>
            <a:r>
              <a:rPr sz="4400" b="1" i="0">
                <a:solidFill>
                  <a:srgbClr val="1E2761"/>
                </a:solidFill>
                <a:latin typeface="Cambria"/>
              </a:rPr>
              <a:t>0.05</a:t>
            </a:r>
          </a:p>
        </p:txBody>
      </p:sp>
      <p:sp>
        <p:nvSpPr>
          <p:cNvPr id="10" name="TextBox 9"/>
          <p:cNvSpPr txBox="1"/>
          <p:nvPr/>
        </p:nvSpPr>
        <p:spPr>
          <a:xfrm>
            <a:off x="8001000" y="2834640"/>
            <a:ext cx="3291840" cy="548640"/>
          </a:xfrm>
          <a:prstGeom prst="rect">
            <a:avLst/>
          </a:prstGeom>
          <a:noFill/>
        </p:spPr>
        <p:txBody>
          <a:bodyPr wrap="square" lIns="0" tIns="0" rIns="0" bIns="0" anchor="t">
            <a:spAutoFit/>
          </a:bodyPr>
          <a:lstStyle/>
          <a:p>
            <a:pPr algn="l">
              <a:lnSpc>
                <a:spcPct val="100000"/>
              </a:lnSpc>
            </a:pPr>
            <a:r>
              <a:rPr sz="1150" b="0" i="1">
                <a:solidFill>
                  <a:srgbClr val="6B7280"/>
                </a:solidFill>
                <a:latin typeface="Calibri"/>
              </a:rPr>
              <a:t>(0 = sin relación lineal, 1 = relación perfecta)</a:t>
            </a:r>
          </a:p>
        </p:txBody>
      </p:sp>
      <p:sp>
        <p:nvSpPr>
          <p:cNvPr id="11" name="TextBox 10"/>
          <p:cNvSpPr txBox="1"/>
          <p:nvPr/>
        </p:nvSpPr>
        <p:spPr>
          <a:xfrm>
            <a:off x="8001000" y="3520440"/>
            <a:ext cx="3291840" cy="2560320"/>
          </a:xfrm>
          <a:prstGeom prst="rect">
            <a:avLst/>
          </a:prstGeom>
          <a:noFill/>
        </p:spPr>
        <p:txBody>
          <a:bodyPr wrap="square" lIns="0" tIns="0" rIns="0" bIns="0" anchor="t">
            <a:spAutoFit/>
          </a:bodyPr>
          <a:lstStyle/>
          <a:p>
            <a:pPr algn="l">
              <a:lnSpc>
                <a:spcPct val="130000"/>
              </a:lnSpc>
            </a:pPr>
            <a:r>
              <a:rPr sz="1250" b="0" i="0">
                <a:solidFill>
                  <a:srgbClr val="1B1F3B"/>
                </a:solidFill>
                <a:latin typeface="Calibri"/>
              </a:rPr>
              <a:t>Lectura ejecutiva: la relación es más débil de lo que la intuición sugiere. Un buen puntaje es casi una condición necesaria para sostenerse en el mercado, pero por sí solo no explica tarifas más altas — no es una palanca de pricing fuerte.</a:t>
            </a:r>
          </a:p>
        </p:txBody>
      </p:sp>
      <p:sp>
        <p:nvSpPr>
          <p:cNvPr id="12" name="TextBox 11"/>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13" name="TextBox 12"/>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457200" cy="457200"/>
          </a:xfrm>
          <a:prstGeom prst="rect">
            <a:avLst/>
          </a:prstGeom>
          <a:noFill/>
        </p:spPr>
        <p:txBody>
          <a:bodyPr wrap="square" lIns="0" tIns="0" rIns="0" bIns="0" anchor="ctr">
            <a:spAutoFit/>
          </a:bodyPr>
          <a:lstStyle/>
          <a:p>
            <a:pPr algn="ctr">
              <a:lnSpc>
                <a:spcPct val="100000"/>
              </a:lnSpc>
            </a:pPr>
            <a:r>
              <a:rPr sz="1600" b="1" i="0">
                <a:solidFill>
                  <a:srgbClr val="FFFFFF"/>
                </a:solidFill>
                <a:latin typeface="Calibri"/>
              </a:rPr>
              <a:t>3</a:t>
            </a:r>
          </a:p>
        </p:txBody>
      </p:sp>
      <p:sp>
        <p:nvSpPr>
          <p:cNvPr id="5" name="TextBox 4"/>
          <p:cNvSpPr txBox="1"/>
          <p:nvPr/>
        </p:nvSpPr>
        <p:spPr>
          <a:xfrm>
            <a:off x="1280160" y="457200"/>
            <a:ext cx="9144000" cy="548640"/>
          </a:xfrm>
          <a:prstGeom prst="rect">
            <a:avLst/>
          </a:prstGeom>
          <a:noFill/>
        </p:spPr>
        <p:txBody>
          <a:bodyPr wrap="square" lIns="0" tIns="0" rIns="0" bIns="0" anchor="ctr">
            <a:spAutoFit/>
          </a:bodyPr>
          <a:lstStyle/>
          <a:p>
            <a:pPr algn="l">
              <a:lnSpc>
                <a:spcPct val="100000"/>
              </a:lnSpc>
            </a:pPr>
            <a:r>
              <a:rPr sz="2600" b="1" i="0">
                <a:solidFill>
                  <a:srgbClr val="1B1F3B"/>
                </a:solidFill>
                <a:latin typeface="Cambria"/>
              </a:rPr>
              <a:t>Qué comodidades generan un premium real</a:t>
            </a:r>
          </a:p>
        </p:txBody>
      </p:sp>
      <p:graphicFrame>
        <p:nvGraphicFramePr>
          <p:cNvPr id="6" name="Chart 5"/>
          <p:cNvGraphicFramePr>
            <a:graphicFrameLocks noGrp="1"/>
          </p:cNvGraphicFramePr>
          <p:nvPr/>
        </p:nvGraphicFramePr>
        <p:xfrm>
          <a:off x="457200" y="1188720"/>
          <a:ext cx="7863840" cy="512064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8549640" y="1188720"/>
            <a:ext cx="3017520" cy="5120640"/>
          </a:xfrm>
          <a:prstGeom prst="roundRect">
            <a:avLst>
              <a:gd name="adj" fmla="val 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23960" y="1417320"/>
            <a:ext cx="2560320" cy="365760"/>
          </a:xfrm>
          <a:prstGeom prst="rect">
            <a:avLst/>
          </a:prstGeom>
          <a:noFill/>
        </p:spPr>
        <p:txBody>
          <a:bodyPr wrap="square" lIns="0" tIns="0" rIns="0" bIns="0" anchor="t">
            <a:spAutoFit/>
          </a:bodyPr>
          <a:lstStyle/>
          <a:p>
            <a:pPr algn="l">
              <a:lnSpc>
                <a:spcPct val="100000"/>
              </a:lnSpc>
            </a:pPr>
            <a:r>
              <a:rPr sz="1300" b="1" i="0">
                <a:solidFill>
                  <a:srgbClr val="C9A227"/>
                </a:solidFill>
                <a:latin typeface="Calibri"/>
              </a:rPr>
              <a:t>Top 3 oportunidades</a:t>
            </a:r>
          </a:p>
        </p:txBody>
      </p:sp>
      <p:sp>
        <p:nvSpPr>
          <p:cNvPr id="9" name="TextBox 8"/>
          <p:cNvSpPr txBox="1"/>
          <p:nvPr/>
        </p:nvSpPr>
        <p:spPr>
          <a:xfrm>
            <a:off x="8823960" y="1965960"/>
            <a:ext cx="256032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Calibri"/>
              </a:rPr>
              <a:t>Gimnasio</a:t>
            </a:r>
          </a:p>
        </p:txBody>
      </p:sp>
      <p:sp>
        <p:nvSpPr>
          <p:cNvPr id="10" name="TextBox 9"/>
          <p:cNvSpPr txBox="1"/>
          <p:nvPr/>
        </p:nvSpPr>
        <p:spPr>
          <a:xfrm>
            <a:off x="8823960" y="2313432"/>
            <a:ext cx="1463040" cy="502920"/>
          </a:xfrm>
          <a:prstGeom prst="rect">
            <a:avLst/>
          </a:prstGeom>
          <a:noFill/>
        </p:spPr>
        <p:txBody>
          <a:bodyPr wrap="square" lIns="0" tIns="0" rIns="0" bIns="0" anchor="t">
            <a:spAutoFit/>
          </a:bodyPr>
          <a:lstStyle/>
          <a:p>
            <a:pPr algn="l">
              <a:lnSpc>
                <a:spcPct val="100000"/>
              </a:lnSpc>
            </a:pPr>
            <a:r>
              <a:rPr sz="2400" b="1" i="0">
                <a:solidFill>
                  <a:srgbClr val="C9A227"/>
                </a:solidFill>
                <a:latin typeface="Cambria"/>
              </a:rPr>
              <a:t>+29.2%</a:t>
            </a:r>
          </a:p>
        </p:txBody>
      </p:sp>
      <p:sp>
        <p:nvSpPr>
          <p:cNvPr id="11" name="TextBox 10"/>
          <p:cNvSpPr txBox="1"/>
          <p:nvPr/>
        </p:nvSpPr>
        <p:spPr>
          <a:xfrm>
            <a:off x="8823960" y="2834639"/>
            <a:ext cx="2560320" cy="548640"/>
          </a:xfrm>
          <a:prstGeom prst="rect">
            <a:avLst/>
          </a:prstGeom>
          <a:noFill/>
        </p:spPr>
        <p:txBody>
          <a:bodyPr wrap="square" lIns="0" tIns="0" rIns="0" bIns="0" anchor="t">
            <a:spAutoFit/>
          </a:bodyPr>
          <a:lstStyle/>
          <a:p>
            <a:pPr algn="l">
              <a:lnSpc>
                <a:spcPct val="115000"/>
              </a:lnSpc>
            </a:pPr>
            <a:r>
              <a:rPr sz="1050" b="0" i="0">
                <a:solidFill>
                  <a:srgbClr val="CADCFC"/>
                </a:solidFill>
                <a:latin typeface="Calibri"/>
              </a:rPr>
              <a:t>12.8% de las</a:t>
            </a:r>
          </a:p>
          <a:p>
            <a:pPr algn="l">
              <a:lnSpc>
                <a:spcPct val="115000"/>
              </a:lnSpc>
            </a:pPr>
            <a:r>
              <a:rPr sz="1050" b="0" i="0">
                <a:solidFill>
                  <a:srgbClr val="CADCFC"/>
                </a:solidFill>
                <a:latin typeface="Calibri"/>
              </a:rPr>
              <a:t>propiedades la ofrece</a:t>
            </a:r>
          </a:p>
        </p:txBody>
      </p:sp>
      <p:sp>
        <p:nvSpPr>
          <p:cNvPr id="12" name="TextBox 11"/>
          <p:cNvSpPr txBox="1"/>
          <p:nvPr/>
        </p:nvSpPr>
        <p:spPr>
          <a:xfrm>
            <a:off x="8823960" y="3429000"/>
            <a:ext cx="256032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Calibri"/>
              </a:rPr>
              <a:t>Pileta</a:t>
            </a:r>
          </a:p>
        </p:txBody>
      </p:sp>
      <p:sp>
        <p:nvSpPr>
          <p:cNvPr id="13" name="TextBox 12"/>
          <p:cNvSpPr txBox="1"/>
          <p:nvPr/>
        </p:nvSpPr>
        <p:spPr>
          <a:xfrm>
            <a:off x="8823960" y="3776472"/>
            <a:ext cx="1463040" cy="502920"/>
          </a:xfrm>
          <a:prstGeom prst="rect">
            <a:avLst/>
          </a:prstGeom>
          <a:noFill/>
        </p:spPr>
        <p:txBody>
          <a:bodyPr wrap="square" lIns="0" tIns="0" rIns="0" bIns="0" anchor="t">
            <a:spAutoFit/>
          </a:bodyPr>
          <a:lstStyle/>
          <a:p>
            <a:pPr algn="l">
              <a:lnSpc>
                <a:spcPct val="100000"/>
              </a:lnSpc>
            </a:pPr>
            <a:r>
              <a:rPr sz="2400" b="1" i="0">
                <a:solidFill>
                  <a:srgbClr val="C9A227"/>
                </a:solidFill>
                <a:latin typeface="Cambria"/>
              </a:rPr>
              <a:t>+23.1%</a:t>
            </a:r>
          </a:p>
        </p:txBody>
      </p:sp>
      <p:sp>
        <p:nvSpPr>
          <p:cNvPr id="14" name="TextBox 13"/>
          <p:cNvSpPr txBox="1"/>
          <p:nvPr/>
        </p:nvSpPr>
        <p:spPr>
          <a:xfrm>
            <a:off x="8823960" y="4297680"/>
            <a:ext cx="2560320" cy="548640"/>
          </a:xfrm>
          <a:prstGeom prst="rect">
            <a:avLst/>
          </a:prstGeom>
          <a:noFill/>
        </p:spPr>
        <p:txBody>
          <a:bodyPr wrap="square" lIns="0" tIns="0" rIns="0" bIns="0" anchor="t">
            <a:spAutoFit/>
          </a:bodyPr>
          <a:lstStyle/>
          <a:p>
            <a:pPr algn="l">
              <a:lnSpc>
                <a:spcPct val="115000"/>
              </a:lnSpc>
            </a:pPr>
            <a:r>
              <a:rPr sz="1050" b="0" i="0">
                <a:solidFill>
                  <a:srgbClr val="CADCFC"/>
                </a:solidFill>
                <a:latin typeface="Calibri"/>
              </a:rPr>
              <a:t>27.2% de las</a:t>
            </a:r>
          </a:p>
          <a:p>
            <a:pPr algn="l">
              <a:lnSpc>
                <a:spcPct val="115000"/>
              </a:lnSpc>
            </a:pPr>
            <a:r>
              <a:rPr sz="1050" b="0" i="0">
                <a:solidFill>
                  <a:srgbClr val="CADCFC"/>
                </a:solidFill>
                <a:latin typeface="Calibri"/>
              </a:rPr>
              <a:t>propiedades la ofrece</a:t>
            </a:r>
          </a:p>
        </p:txBody>
      </p:sp>
      <p:sp>
        <p:nvSpPr>
          <p:cNvPr id="15" name="TextBox 14"/>
          <p:cNvSpPr txBox="1"/>
          <p:nvPr/>
        </p:nvSpPr>
        <p:spPr>
          <a:xfrm>
            <a:off x="8823960" y="4892040"/>
            <a:ext cx="256032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Calibri"/>
              </a:rPr>
              <a:t>Cochera</a:t>
            </a:r>
          </a:p>
        </p:txBody>
      </p:sp>
      <p:sp>
        <p:nvSpPr>
          <p:cNvPr id="16" name="TextBox 15"/>
          <p:cNvSpPr txBox="1"/>
          <p:nvPr/>
        </p:nvSpPr>
        <p:spPr>
          <a:xfrm>
            <a:off x="8823960" y="5239512"/>
            <a:ext cx="1463040" cy="502920"/>
          </a:xfrm>
          <a:prstGeom prst="rect">
            <a:avLst/>
          </a:prstGeom>
          <a:noFill/>
        </p:spPr>
        <p:txBody>
          <a:bodyPr wrap="square" lIns="0" tIns="0" rIns="0" bIns="0" anchor="t">
            <a:spAutoFit/>
          </a:bodyPr>
          <a:lstStyle/>
          <a:p>
            <a:pPr algn="l">
              <a:lnSpc>
                <a:spcPct val="100000"/>
              </a:lnSpc>
            </a:pPr>
            <a:r>
              <a:rPr sz="2400" b="1" i="0">
                <a:solidFill>
                  <a:srgbClr val="C9A227"/>
                </a:solidFill>
                <a:latin typeface="Cambria"/>
              </a:rPr>
              <a:t>+17.5%</a:t>
            </a:r>
          </a:p>
        </p:txBody>
      </p:sp>
      <p:sp>
        <p:nvSpPr>
          <p:cNvPr id="17" name="TextBox 16"/>
          <p:cNvSpPr txBox="1"/>
          <p:nvPr/>
        </p:nvSpPr>
        <p:spPr>
          <a:xfrm>
            <a:off x="8823960" y="5760720"/>
            <a:ext cx="2560320" cy="548640"/>
          </a:xfrm>
          <a:prstGeom prst="rect">
            <a:avLst/>
          </a:prstGeom>
          <a:noFill/>
        </p:spPr>
        <p:txBody>
          <a:bodyPr wrap="square" lIns="0" tIns="0" rIns="0" bIns="0" anchor="t">
            <a:spAutoFit/>
          </a:bodyPr>
          <a:lstStyle/>
          <a:p>
            <a:pPr algn="l">
              <a:lnSpc>
                <a:spcPct val="115000"/>
              </a:lnSpc>
            </a:pPr>
            <a:r>
              <a:rPr sz="1050" b="0" i="0">
                <a:solidFill>
                  <a:srgbClr val="CADCFC"/>
                </a:solidFill>
                <a:latin typeface="Calibri"/>
              </a:rPr>
              <a:t>56.3% de las</a:t>
            </a:r>
          </a:p>
          <a:p>
            <a:pPr algn="l">
              <a:lnSpc>
                <a:spcPct val="115000"/>
              </a:lnSpc>
            </a:pPr>
            <a:r>
              <a:rPr sz="1050" b="0" i="0">
                <a:solidFill>
                  <a:srgbClr val="CADCFC"/>
                </a:solidFill>
                <a:latin typeface="Calibri"/>
              </a:rPr>
              <a:t>propiedades la ofrece</a:t>
            </a:r>
          </a:p>
        </p:txBody>
      </p:sp>
      <p:sp>
        <p:nvSpPr>
          <p:cNvPr id="18" name="TextBox 17"/>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19" name="TextBox 18"/>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CONTEXTO ADICIONAL</a:t>
            </a:r>
          </a:p>
        </p:txBody>
      </p:sp>
      <p:sp>
        <p:nvSpPr>
          <p:cNvPr id="4" name="TextBox 3"/>
          <p:cNvSpPr txBox="1"/>
          <p:nvPr/>
        </p:nvSpPr>
        <p:spPr>
          <a:xfrm>
            <a:off x="640080" y="822960"/>
            <a:ext cx="10515600" cy="548640"/>
          </a:xfrm>
          <a:prstGeom prst="rect">
            <a:avLst/>
          </a:prstGeom>
          <a:noFill/>
        </p:spPr>
        <p:txBody>
          <a:bodyPr wrap="square" lIns="0" tIns="0" rIns="0" bIns="0" anchor="t">
            <a:spAutoFit/>
          </a:bodyPr>
          <a:lstStyle/>
          <a:p>
            <a:pPr algn="l">
              <a:lnSpc>
                <a:spcPct val="100000"/>
              </a:lnSpc>
            </a:pPr>
            <a:r>
              <a:rPr sz="2600" b="1" i="0">
                <a:solidFill>
                  <a:srgbClr val="1B1F3B"/>
                </a:solidFill>
                <a:latin typeface="Cambria"/>
              </a:rPr>
              <a:t>Panorama de precios en los barrios con más oferta</a:t>
            </a:r>
          </a:p>
        </p:txBody>
      </p:sp>
      <p:sp>
        <p:nvSpPr>
          <p:cNvPr id="5" name="TextBox 4"/>
          <p:cNvSpPr txBox="1"/>
          <p:nvPr/>
        </p:nvSpPr>
        <p:spPr>
          <a:xfrm>
            <a:off x="640080" y="1143000"/>
            <a:ext cx="9144000" cy="320040"/>
          </a:xfrm>
          <a:prstGeom prst="rect">
            <a:avLst/>
          </a:prstGeom>
          <a:noFill/>
        </p:spPr>
        <p:txBody>
          <a:bodyPr wrap="square" lIns="0" tIns="0" rIns="0" bIns="0" anchor="t">
            <a:spAutoFit/>
          </a:bodyPr>
          <a:lstStyle/>
          <a:p>
            <a:pPr algn="l">
              <a:lnSpc>
                <a:spcPct val="100000"/>
              </a:lnSpc>
            </a:pPr>
            <a:r>
              <a:rPr sz="1200" b="0" i="1">
                <a:solidFill>
                  <a:srgbClr val="6B7280"/>
                </a:solidFill>
                <a:latin typeface="Calibri"/>
              </a:rPr>
              <a:t>8 barrios con mayor cantidad de publicaciones activas en Airbnb (CABA).</a:t>
            </a:r>
          </a:p>
        </p:txBody>
      </p:sp>
      <p:graphicFrame>
        <p:nvGraphicFramePr>
          <p:cNvPr id="6" name="Chart 5"/>
          <p:cNvGraphicFramePr>
            <a:graphicFrameLocks noGrp="1"/>
          </p:cNvGraphicFramePr>
          <p:nvPr/>
        </p:nvGraphicFramePr>
        <p:xfrm>
          <a:off x="457200" y="1508760"/>
          <a:ext cx="11247120"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8" name="TextBox 7"/>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286000" y="3840480"/>
            <a:ext cx="5486400" cy="5486400"/>
          </a:xfrm>
          <a:prstGeom prst="ellipse">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C9A227"/>
                </a:solidFill>
                <a:latin typeface="Calibri"/>
              </a:rPr>
              <a:t>SÍNTESIS</a:t>
            </a:r>
          </a:p>
        </p:txBody>
      </p:sp>
      <p:sp>
        <p:nvSpPr>
          <p:cNvPr id="5" name="TextBox 4"/>
          <p:cNvSpPr txBox="1"/>
          <p:nvPr/>
        </p:nvSpPr>
        <p:spPr>
          <a:xfrm>
            <a:off x="640080" y="822960"/>
            <a:ext cx="9144000" cy="640080"/>
          </a:xfrm>
          <a:prstGeom prst="rect">
            <a:avLst/>
          </a:prstGeom>
          <a:noFill/>
        </p:spPr>
        <p:txBody>
          <a:bodyPr wrap="square" lIns="0" tIns="0" rIns="0" bIns="0" anchor="t">
            <a:spAutoFit/>
          </a:bodyPr>
          <a:lstStyle/>
          <a:p>
            <a:pPr algn="l">
              <a:lnSpc>
                <a:spcPct val="100000"/>
              </a:lnSpc>
            </a:pPr>
            <a:r>
              <a:rPr sz="3200" b="1" i="0">
                <a:solidFill>
                  <a:srgbClr val="FFFFFF"/>
                </a:solidFill>
                <a:latin typeface="Cambria"/>
              </a:rPr>
              <a:t>Insights clave</a:t>
            </a:r>
          </a:p>
        </p:txBody>
      </p:sp>
      <p:sp>
        <p:nvSpPr>
          <p:cNvPr id="6" name="Oval 5"/>
          <p:cNvSpPr/>
          <p:nvPr/>
        </p:nvSpPr>
        <p:spPr>
          <a:xfrm>
            <a:off x="640080" y="1828800"/>
            <a:ext cx="548640" cy="54864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828800"/>
            <a:ext cx="548640" cy="548640"/>
          </a:xfrm>
          <a:prstGeom prst="rect">
            <a:avLst/>
          </a:prstGeom>
          <a:noFill/>
        </p:spPr>
        <p:txBody>
          <a:bodyPr wrap="square" lIns="0" tIns="0" rIns="0" bIns="0" anchor="ctr">
            <a:spAutoFit/>
          </a:bodyPr>
          <a:lstStyle/>
          <a:p>
            <a:pPr algn="ctr">
              <a:lnSpc>
                <a:spcPct val="100000"/>
              </a:lnSpc>
            </a:pPr>
            <a:r>
              <a:rPr sz="2000" b="1" i="0">
                <a:solidFill>
                  <a:srgbClr val="1B1F3B"/>
                </a:solidFill>
                <a:latin typeface="Calibri"/>
              </a:rPr>
              <a:t>1</a:t>
            </a:r>
          </a:p>
        </p:txBody>
      </p:sp>
      <p:sp>
        <p:nvSpPr>
          <p:cNvPr id="8" name="TextBox 7"/>
          <p:cNvSpPr txBox="1"/>
          <p:nvPr/>
        </p:nvSpPr>
        <p:spPr>
          <a:xfrm>
            <a:off x="1508760" y="1737360"/>
            <a:ext cx="4206240" cy="1417320"/>
          </a:xfrm>
          <a:prstGeom prst="rect">
            <a:avLst/>
          </a:prstGeom>
          <a:noFill/>
        </p:spPr>
        <p:txBody>
          <a:bodyPr wrap="square" lIns="0" tIns="0" rIns="0" bIns="0" anchor="ctr">
            <a:spAutoFit/>
          </a:bodyPr>
          <a:lstStyle/>
          <a:p>
            <a:pPr algn="l">
              <a:lnSpc>
                <a:spcPct val="115000"/>
              </a:lnSpc>
            </a:pPr>
            <a:r>
              <a:rPr sz="1600" b="1" i="0">
                <a:solidFill>
                  <a:srgbClr val="FFFFFF"/>
                </a:solidFill>
                <a:latin typeface="Cambria"/>
              </a:rPr>
              <a:t>Ubicación con densidad de servicios</a:t>
            </a:r>
          </a:p>
        </p:txBody>
      </p:sp>
      <p:sp>
        <p:nvSpPr>
          <p:cNvPr id="9" name="TextBox 8"/>
          <p:cNvSpPr txBox="1"/>
          <p:nvPr/>
        </p:nvSpPr>
        <p:spPr>
          <a:xfrm>
            <a:off x="5943600" y="1737360"/>
            <a:ext cx="5669280" cy="1417320"/>
          </a:xfrm>
          <a:prstGeom prst="rect">
            <a:avLst/>
          </a:prstGeom>
          <a:noFill/>
        </p:spPr>
        <p:txBody>
          <a:bodyPr wrap="square" lIns="0" tIns="0" rIns="0" bIns="0" anchor="ctr">
            <a:spAutoFit/>
          </a:bodyPr>
          <a:lstStyle/>
          <a:p>
            <a:pPr algn="l">
              <a:lnSpc>
                <a:spcPct val="125000"/>
              </a:lnSpc>
            </a:pPr>
            <a:r>
              <a:rPr sz="1300" b="0" i="0">
                <a:solidFill>
                  <a:srgbClr val="CADCFC"/>
                </a:solidFill>
                <a:latin typeface="Calibri"/>
              </a:rPr>
              <a:t>Correlación de 0.3 entre densidad de POI y precio promedio por barrio: la cercanía a oferta gastronómica y transporte es un factor de pricing medible.</a:t>
            </a:r>
          </a:p>
        </p:txBody>
      </p:sp>
      <p:sp>
        <p:nvSpPr>
          <p:cNvPr id="10" name="Oval 9"/>
          <p:cNvSpPr/>
          <p:nvPr/>
        </p:nvSpPr>
        <p:spPr>
          <a:xfrm>
            <a:off x="640080" y="3383279"/>
            <a:ext cx="548640" cy="54864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383279"/>
            <a:ext cx="548640" cy="548640"/>
          </a:xfrm>
          <a:prstGeom prst="rect">
            <a:avLst/>
          </a:prstGeom>
          <a:noFill/>
        </p:spPr>
        <p:txBody>
          <a:bodyPr wrap="square" lIns="0" tIns="0" rIns="0" bIns="0" anchor="ctr">
            <a:spAutoFit/>
          </a:bodyPr>
          <a:lstStyle/>
          <a:p>
            <a:pPr algn="ctr">
              <a:lnSpc>
                <a:spcPct val="100000"/>
              </a:lnSpc>
            </a:pPr>
            <a:r>
              <a:rPr sz="2000" b="1" i="0">
                <a:solidFill>
                  <a:srgbClr val="1B1F3B"/>
                </a:solidFill>
                <a:latin typeface="Calibri"/>
              </a:rPr>
              <a:t>2</a:t>
            </a:r>
          </a:p>
        </p:txBody>
      </p:sp>
      <p:sp>
        <p:nvSpPr>
          <p:cNvPr id="12" name="TextBox 11"/>
          <p:cNvSpPr txBox="1"/>
          <p:nvPr/>
        </p:nvSpPr>
        <p:spPr>
          <a:xfrm>
            <a:off x="1508760" y="3291839"/>
            <a:ext cx="4206240" cy="1417320"/>
          </a:xfrm>
          <a:prstGeom prst="rect">
            <a:avLst/>
          </a:prstGeom>
          <a:noFill/>
        </p:spPr>
        <p:txBody>
          <a:bodyPr wrap="square" lIns="0" tIns="0" rIns="0" bIns="0" anchor="ctr">
            <a:spAutoFit/>
          </a:bodyPr>
          <a:lstStyle/>
          <a:p>
            <a:pPr algn="l">
              <a:lnSpc>
                <a:spcPct val="115000"/>
              </a:lnSpc>
            </a:pPr>
            <a:r>
              <a:rPr sz="1600" b="1" i="0">
                <a:solidFill>
                  <a:srgbClr val="FFFFFF"/>
                </a:solidFill>
                <a:latin typeface="Cambria"/>
              </a:rPr>
              <a:t>Las reviews son un piso, no una palanca</a:t>
            </a:r>
          </a:p>
        </p:txBody>
      </p:sp>
      <p:sp>
        <p:nvSpPr>
          <p:cNvPr id="13" name="TextBox 12"/>
          <p:cNvSpPr txBox="1"/>
          <p:nvPr/>
        </p:nvSpPr>
        <p:spPr>
          <a:xfrm>
            <a:off x="5943600" y="3291839"/>
            <a:ext cx="5669280" cy="1417320"/>
          </a:xfrm>
          <a:prstGeom prst="rect">
            <a:avLst/>
          </a:prstGeom>
          <a:noFill/>
        </p:spPr>
        <p:txBody>
          <a:bodyPr wrap="square" lIns="0" tIns="0" rIns="0" bIns="0" anchor="ctr">
            <a:spAutoFit/>
          </a:bodyPr>
          <a:lstStyle/>
          <a:p>
            <a:pPr algn="l">
              <a:lnSpc>
                <a:spcPct val="125000"/>
              </a:lnSpc>
            </a:pPr>
            <a:r>
              <a:rPr sz="1300" b="0" i="0">
                <a:solidFill>
                  <a:srgbClr val="CADCFC"/>
                </a:solidFill>
                <a:latin typeface="Calibri"/>
              </a:rPr>
              <a:t>Correlación de solo 0.05 entre puntaje de reviews y precio: un buen puntaje sostiene al host en el mercado, pero no justifica tarifas premium por sí solo.</a:t>
            </a:r>
          </a:p>
        </p:txBody>
      </p:sp>
      <p:sp>
        <p:nvSpPr>
          <p:cNvPr id="14" name="Oval 13"/>
          <p:cNvSpPr/>
          <p:nvPr/>
        </p:nvSpPr>
        <p:spPr>
          <a:xfrm>
            <a:off x="640080" y="4937759"/>
            <a:ext cx="548640" cy="54864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937759"/>
            <a:ext cx="548640" cy="548640"/>
          </a:xfrm>
          <a:prstGeom prst="rect">
            <a:avLst/>
          </a:prstGeom>
          <a:noFill/>
        </p:spPr>
        <p:txBody>
          <a:bodyPr wrap="square" lIns="0" tIns="0" rIns="0" bIns="0" anchor="ctr">
            <a:spAutoFit/>
          </a:bodyPr>
          <a:lstStyle/>
          <a:p>
            <a:pPr algn="ctr">
              <a:lnSpc>
                <a:spcPct val="100000"/>
              </a:lnSpc>
            </a:pPr>
            <a:r>
              <a:rPr sz="2000" b="1" i="0">
                <a:solidFill>
                  <a:srgbClr val="1B1F3B"/>
                </a:solidFill>
                <a:latin typeface="Calibri"/>
              </a:rPr>
              <a:t>3</a:t>
            </a:r>
          </a:p>
        </p:txBody>
      </p:sp>
      <p:sp>
        <p:nvSpPr>
          <p:cNvPr id="16" name="TextBox 15"/>
          <p:cNvSpPr txBox="1"/>
          <p:nvPr/>
        </p:nvSpPr>
        <p:spPr>
          <a:xfrm>
            <a:off x="1508760" y="4846320"/>
            <a:ext cx="4206240" cy="1417320"/>
          </a:xfrm>
          <a:prstGeom prst="rect">
            <a:avLst/>
          </a:prstGeom>
          <a:noFill/>
        </p:spPr>
        <p:txBody>
          <a:bodyPr wrap="square" lIns="0" tIns="0" rIns="0" bIns="0" anchor="ctr">
            <a:spAutoFit/>
          </a:bodyPr>
          <a:lstStyle/>
          <a:p>
            <a:pPr algn="l">
              <a:lnSpc>
                <a:spcPct val="115000"/>
              </a:lnSpc>
            </a:pPr>
            <a:r>
              <a:rPr sz="1600" b="1" i="0">
                <a:solidFill>
                  <a:srgbClr val="FFFFFF"/>
                </a:solidFill>
                <a:latin typeface="Cambria"/>
              </a:rPr>
              <a:t>No todas las amenities valen lo mismo</a:t>
            </a:r>
          </a:p>
        </p:txBody>
      </p:sp>
      <p:sp>
        <p:nvSpPr>
          <p:cNvPr id="17" name="TextBox 16"/>
          <p:cNvSpPr txBox="1"/>
          <p:nvPr/>
        </p:nvSpPr>
        <p:spPr>
          <a:xfrm>
            <a:off x="5943600" y="4846320"/>
            <a:ext cx="5669280" cy="1417320"/>
          </a:xfrm>
          <a:prstGeom prst="rect">
            <a:avLst/>
          </a:prstGeom>
          <a:noFill/>
        </p:spPr>
        <p:txBody>
          <a:bodyPr wrap="square" lIns="0" tIns="0" rIns="0" bIns="0" anchor="ctr">
            <a:spAutoFit/>
          </a:bodyPr>
          <a:lstStyle/>
          <a:p>
            <a:pPr algn="l">
              <a:lnSpc>
                <a:spcPct val="125000"/>
              </a:lnSpc>
            </a:pPr>
            <a:r>
              <a:rPr sz="1300" b="0" i="0">
                <a:solidFill>
                  <a:srgbClr val="CADCFC"/>
                </a:solidFill>
                <a:latin typeface="Calibri"/>
              </a:rPr>
              <a:t>Gimnasio y pileta lideran el premium de precio (hasta +29.2%) y aún tienen baja penetración: son las mejores candidatas a inversión.</a:t>
            </a:r>
          </a:p>
        </p:txBody>
      </p:sp>
      <p:sp>
        <p:nvSpPr>
          <p:cNvPr id="18" name="TextBox 17"/>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8891C4"/>
                </a:solidFill>
                <a:latin typeface="Calibri"/>
              </a:rPr>
              <a:t>Airbnb CABA — Data Science II · TP1</a:t>
            </a:r>
          </a:p>
        </p:txBody>
      </p:sp>
      <p:sp>
        <p:nvSpPr>
          <p:cNvPr id="19" name="TextBox 18"/>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8891C4"/>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RECOMENDACIONES</a:t>
            </a:r>
          </a:p>
        </p:txBody>
      </p:sp>
      <p:sp>
        <p:nvSpPr>
          <p:cNvPr id="4" name="TextBox 3"/>
          <p:cNvSpPr txBox="1"/>
          <p:nvPr/>
        </p:nvSpPr>
        <p:spPr>
          <a:xfrm>
            <a:off x="640080" y="822960"/>
            <a:ext cx="10058400" cy="548640"/>
          </a:xfrm>
          <a:prstGeom prst="rect">
            <a:avLst/>
          </a:prstGeom>
          <a:noFill/>
        </p:spPr>
        <p:txBody>
          <a:bodyPr wrap="square" lIns="0" tIns="0" rIns="0" bIns="0" anchor="t">
            <a:spAutoFit/>
          </a:bodyPr>
          <a:lstStyle/>
          <a:p>
            <a:pPr algn="l">
              <a:lnSpc>
                <a:spcPct val="100000"/>
              </a:lnSpc>
            </a:pPr>
            <a:r>
              <a:rPr sz="2800" b="1" i="0">
                <a:solidFill>
                  <a:srgbClr val="1B1F3B"/>
                </a:solidFill>
                <a:latin typeface="Cambria"/>
              </a:rPr>
              <a:t>Qué hacer con estos hallazgos</a:t>
            </a:r>
          </a:p>
        </p:txBody>
      </p:sp>
      <p:sp>
        <p:nvSpPr>
          <p:cNvPr id="5" name="Rounded Rectangle 4"/>
          <p:cNvSpPr/>
          <p:nvPr/>
        </p:nvSpPr>
        <p:spPr>
          <a:xfrm>
            <a:off x="640080" y="1737360"/>
            <a:ext cx="3520440" cy="356616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2011679"/>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11679"/>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1</a:t>
            </a:r>
          </a:p>
        </p:txBody>
      </p:sp>
      <p:sp>
        <p:nvSpPr>
          <p:cNvPr id="8" name="TextBox 7"/>
          <p:cNvSpPr txBox="1"/>
          <p:nvPr/>
        </p:nvSpPr>
        <p:spPr>
          <a:xfrm>
            <a:off x="914400" y="2697480"/>
            <a:ext cx="2971800" cy="822960"/>
          </a:xfrm>
          <a:prstGeom prst="rect">
            <a:avLst/>
          </a:prstGeom>
          <a:noFill/>
        </p:spPr>
        <p:txBody>
          <a:bodyPr wrap="square" lIns="0" tIns="0" rIns="0" bIns="0" anchor="t">
            <a:spAutoFit/>
          </a:bodyPr>
          <a:lstStyle/>
          <a:p>
            <a:pPr algn="l">
              <a:lnSpc>
                <a:spcPct val="115000"/>
              </a:lnSpc>
            </a:pPr>
            <a:r>
              <a:rPr sz="1600" b="1" i="0">
                <a:solidFill>
                  <a:srgbClr val="1B1F3B"/>
                </a:solidFill>
                <a:latin typeface="Cambria"/>
              </a:rPr>
              <a:t>Priorizar ubicación caminable</a:t>
            </a:r>
          </a:p>
        </p:txBody>
      </p:sp>
      <p:sp>
        <p:nvSpPr>
          <p:cNvPr id="9" name="TextBox 8"/>
          <p:cNvSpPr txBox="1"/>
          <p:nvPr/>
        </p:nvSpPr>
        <p:spPr>
          <a:xfrm>
            <a:off x="914400" y="3520439"/>
            <a:ext cx="2971800" cy="1645920"/>
          </a:xfrm>
          <a:prstGeom prst="rect">
            <a:avLst/>
          </a:prstGeom>
          <a:noFill/>
        </p:spPr>
        <p:txBody>
          <a:bodyPr wrap="square" lIns="0" tIns="0" rIns="0" bIns="0" anchor="t">
            <a:spAutoFit/>
          </a:bodyPr>
          <a:lstStyle/>
          <a:p>
            <a:pPr algn="l">
              <a:lnSpc>
                <a:spcPct val="130000"/>
              </a:lnSpc>
            </a:pPr>
            <a:r>
              <a:rPr sz="1250" b="0" i="0">
                <a:solidFill>
                  <a:srgbClr val="6B7280"/>
                </a:solidFill>
                <a:latin typeface="Calibri"/>
              </a:rPr>
              <a:t>Al elegir barrio para invertir, ponderar la densidad de gastronomía y transporte cercano, no solo el precio del metro cuadrado.</a:t>
            </a:r>
          </a:p>
        </p:txBody>
      </p:sp>
      <p:sp>
        <p:nvSpPr>
          <p:cNvPr id="10" name="Rounded Rectangle 9"/>
          <p:cNvSpPr/>
          <p:nvPr/>
        </p:nvSpPr>
        <p:spPr>
          <a:xfrm>
            <a:off x="4389120" y="1737360"/>
            <a:ext cx="3520440" cy="356616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63440" y="2011679"/>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11679"/>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2</a:t>
            </a:r>
          </a:p>
        </p:txBody>
      </p:sp>
      <p:sp>
        <p:nvSpPr>
          <p:cNvPr id="13" name="TextBox 12"/>
          <p:cNvSpPr txBox="1"/>
          <p:nvPr/>
        </p:nvSpPr>
        <p:spPr>
          <a:xfrm>
            <a:off x="4663440" y="2697480"/>
            <a:ext cx="2971800" cy="822960"/>
          </a:xfrm>
          <a:prstGeom prst="rect">
            <a:avLst/>
          </a:prstGeom>
          <a:noFill/>
        </p:spPr>
        <p:txBody>
          <a:bodyPr wrap="square" lIns="0" tIns="0" rIns="0" bIns="0" anchor="t">
            <a:spAutoFit/>
          </a:bodyPr>
          <a:lstStyle/>
          <a:p>
            <a:pPr algn="l">
              <a:lnSpc>
                <a:spcPct val="115000"/>
              </a:lnSpc>
            </a:pPr>
            <a:r>
              <a:rPr sz="1600" b="1" i="0">
                <a:solidFill>
                  <a:srgbClr val="1B1F3B"/>
                </a:solidFill>
                <a:latin typeface="Cambria"/>
              </a:rPr>
              <a:t>Reviews: piso no negociable</a:t>
            </a:r>
          </a:p>
        </p:txBody>
      </p:sp>
      <p:sp>
        <p:nvSpPr>
          <p:cNvPr id="14" name="TextBox 13"/>
          <p:cNvSpPr txBox="1"/>
          <p:nvPr/>
        </p:nvSpPr>
        <p:spPr>
          <a:xfrm>
            <a:off x="4663440" y="3520439"/>
            <a:ext cx="2971800" cy="1645920"/>
          </a:xfrm>
          <a:prstGeom prst="rect">
            <a:avLst/>
          </a:prstGeom>
          <a:noFill/>
        </p:spPr>
        <p:txBody>
          <a:bodyPr wrap="square" lIns="0" tIns="0" rIns="0" bIns="0" anchor="t">
            <a:spAutoFit/>
          </a:bodyPr>
          <a:lstStyle/>
          <a:p>
            <a:pPr algn="l">
              <a:lnSpc>
                <a:spcPct val="130000"/>
              </a:lnSpc>
            </a:pPr>
            <a:r>
              <a:rPr sz="1250" b="0" i="0">
                <a:solidFill>
                  <a:srgbClr val="6B7280"/>
                </a:solidFill>
                <a:latin typeface="Calibri"/>
              </a:rPr>
              <a:t>Mantener un puntaje alto de reviews como condición de permanencia en el mercado, sin esperar que por sí solo justifique subir tarifas.</a:t>
            </a:r>
          </a:p>
        </p:txBody>
      </p:sp>
      <p:sp>
        <p:nvSpPr>
          <p:cNvPr id="15" name="Rounded Rectangle 14"/>
          <p:cNvSpPr/>
          <p:nvPr/>
        </p:nvSpPr>
        <p:spPr>
          <a:xfrm>
            <a:off x="8138159" y="1737360"/>
            <a:ext cx="3520440" cy="356616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412480" y="2011679"/>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011679"/>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3</a:t>
            </a:r>
          </a:p>
        </p:txBody>
      </p:sp>
      <p:sp>
        <p:nvSpPr>
          <p:cNvPr id="18" name="TextBox 17"/>
          <p:cNvSpPr txBox="1"/>
          <p:nvPr/>
        </p:nvSpPr>
        <p:spPr>
          <a:xfrm>
            <a:off x="8412480" y="2697480"/>
            <a:ext cx="2971800" cy="822960"/>
          </a:xfrm>
          <a:prstGeom prst="rect">
            <a:avLst/>
          </a:prstGeom>
          <a:noFill/>
        </p:spPr>
        <p:txBody>
          <a:bodyPr wrap="square" lIns="0" tIns="0" rIns="0" bIns="0" anchor="t">
            <a:spAutoFit/>
          </a:bodyPr>
          <a:lstStyle/>
          <a:p>
            <a:pPr algn="l">
              <a:lnSpc>
                <a:spcPct val="115000"/>
              </a:lnSpc>
            </a:pPr>
            <a:r>
              <a:rPr sz="1600" b="1" i="0">
                <a:solidFill>
                  <a:srgbClr val="1B1F3B"/>
                </a:solidFill>
                <a:latin typeface="Cambria"/>
              </a:rPr>
              <a:t>Invertir en amenities de alto premium</a:t>
            </a:r>
          </a:p>
        </p:txBody>
      </p:sp>
      <p:sp>
        <p:nvSpPr>
          <p:cNvPr id="19" name="TextBox 18"/>
          <p:cNvSpPr txBox="1"/>
          <p:nvPr/>
        </p:nvSpPr>
        <p:spPr>
          <a:xfrm>
            <a:off x="8412480" y="3520439"/>
            <a:ext cx="2971800" cy="1645920"/>
          </a:xfrm>
          <a:prstGeom prst="rect">
            <a:avLst/>
          </a:prstGeom>
          <a:noFill/>
        </p:spPr>
        <p:txBody>
          <a:bodyPr wrap="square" lIns="0" tIns="0" rIns="0" bIns="0" anchor="t">
            <a:spAutoFit/>
          </a:bodyPr>
          <a:lstStyle/>
          <a:p>
            <a:pPr algn="l">
              <a:lnSpc>
                <a:spcPct val="130000"/>
              </a:lnSpc>
            </a:pPr>
            <a:r>
              <a:rPr sz="1250" b="0" i="0">
                <a:solidFill>
                  <a:srgbClr val="6B7280"/>
                </a:solidFill>
                <a:latin typeface="Calibri"/>
              </a:rPr>
              <a:t>Priorizar gimnasio, pileta y cochera al equipar una propiedad: son las comodidades con mayor retorno relativo y todavía baja penetración.</a:t>
            </a:r>
          </a:p>
        </p:txBody>
      </p:sp>
      <p:sp>
        <p:nvSpPr>
          <p:cNvPr id="20" name="TextBox 19"/>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21" name="TextBox 20"/>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5486400" cy="274320"/>
          </a:xfrm>
          <a:prstGeom prst="rect">
            <a:avLst/>
          </a:prstGeom>
          <a:noFill/>
        </p:spPr>
        <p:txBody>
          <a:bodyPr wrap="square" lIns="0" tIns="0" rIns="0" bIns="0" anchor="t">
            <a:spAutoFit/>
          </a:bodyPr>
          <a:lstStyle/>
          <a:p>
            <a:pPr algn="l">
              <a:lnSpc>
                <a:spcPct val="100000"/>
              </a:lnSpc>
            </a:pPr>
            <a:r>
              <a:rPr sz="1200" b="1" i="0" spc="150">
                <a:solidFill>
                  <a:srgbClr val="1E2761"/>
                </a:solidFill>
                <a:latin typeface="Calibri"/>
              </a:rPr>
              <a:t>PRÓXIMOS PASOS</a:t>
            </a:r>
          </a:p>
        </p:txBody>
      </p:sp>
      <p:sp>
        <p:nvSpPr>
          <p:cNvPr id="4" name="TextBox 3"/>
          <p:cNvSpPr txBox="1"/>
          <p:nvPr/>
        </p:nvSpPr>
        <p:spPr>
          <a:xfrm>
            <a:off x="640080" y="822960"/>
            <a:ext cx="10515600" cy="548640"/>
          </a:xfrm>
          <a:prstGeom prst="rect">
            <a:avLst/>
          </a:prstGeom>
          <a:noFill/>
        </p:spPr>
        <p:txBody>
          <a:bodyPr wrap="square" lIns="0" tIns="0" rIns="0" bIns="0" anchor="t">
            <a:spAutoFit/>
          </a:bodyPr>
          <a:lstStyle/>
          <a:p>
            <a:pPr algn="l">
              <a:lnSpc>
                <a:spcPct val="100000"/>
              </a:lnSpc>
            </a:pPr>
            <a:r>
              <a:rPr sz="2700" b="1" i="0">
                <a:solidFill>
                  <a:srgbClr val="1B1F3B"/>
                </a:solidFill>
                <a:latin typeface="Cambria"/>
              </a:rPr>
              <a:t>De insights descriptivos a modelos predictivos</a:t>
            </a:r>
          </a:p>
        </p:txBody>
      </p:sp>
      <p:sp>
        <p:nvSpPr>
          <p:cNvPr id="5" name="TextBox 4"/>
          <p:cNvSpPr txBox="1"/>
          <p:nvPr/>
        </p:nvSpPr>
        <p:spPr>
          <a:xfrm>
            <a:off x="640080" y="1554480"/>
            <a:ext cx="10515600" cy="822960"/>
          </a:xfrm>
          <a:prstGeom prst="rect">
            <a:avLst/>
          </a:prstGeom>
          <a:noFill/>
        </p:spPr>
        <p:txBody>
          <a:bodyPr wrap="square" lIns="0" tIns="0" rIns="0" bIns="0" anchor="t">
            <a:spAutoFit/>
          </a:bodyPr>
          <a:lstStyle/>
          <a:p>
            <a:pPr algn="l">
              <a:lnSpc>
                <a:spcPct val="130000"/>
              </a:lnSpc>
            </a:pPr>
            <a:r>
              <a:rPr sz="1500" b="0" i="0">
                <a:solidFill>
                  <a:srgbClr val="1B1F3B"/>
                </a:solidFill>
                <a:latin typeface="Calibri"/>
              </a:rPr>
              <a:t>Este análisis es exploratorio y descriptivo (correlaciones), no causal. La segunda entrega del TP incorporará modelos de Machine Learning entrenados y optimizados para predecir precio y ocupación, cuantificando el efecto real de cada variable.</a:t>
            </a:r>
          </a:p>
        </p:txBody>
      </p:sp>
      <p:sp>
        <p:nvSpPr>
          <p:cNvPr id="6" name="Rounded Rectangle 5"/>
          <p:cNvSpPr/>
          <p:nvPr/>
        </p:nvSpPr>
        <p:spPr>
          <a:xfrm>
            <a:off x="640080" y="2743200"/>
            <a:ext cx="3520440" cy="228600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301752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017520"/>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1</a:t>
            </a:r>
          </a:p>
        </p:txBody>
      </p:sp>
      <p:sp>
        <p:nvSpPr>
          <p:cNvPr id="9" name="TextBox 8"/>
          <p:cNvSpPr txBox="1"/>
          <p:nvPr/>
        </p:nvSpPr>
        <p:spPr>
          <a:xfrm>
            <a:off x="1600200" y="3017520"/>
            <a:ext cx="2286000" cy="502920"/>
          </a:xfrm>
          <a:prstGeom prst="rect">
            <a:avLst/>
          </a:prstGeom>
          <a:noFill/>
        </p:spPr>
        <p:txBody>
          <a:bodyPr wrap="square" lIns="0" tIns="0" rIns="0" bIns="0" anchor="ctr">
            <a:spAutoFit/>
          </a:bodyPr>
          <a:lstStyle/>
          <a:p>
            <a:pPr algn="l">
              <a:lnSpc>
                <a:spcPct val="100000"/>
              </a:lnSpc>
            </a:pPr>
            <a:r>
              <a:rPr sz="1500" b="1" i="0">
                <a:solidFill>
                  <a:srgbClr val="1B1F3B"/>
                </a:solidFill>
                <a:latin typeface="Cambria"/>
              </a:rPr>
              <a:t>Modelo de pricing</a:t>
            </a:r>
          </a:p>
        </p:txBody>
      </p:sp>
      <p:sp>
        <p:nvSpPr>
          <p:cNvPr id="10" name="TextBox 9"/>
          <p:cNvSpPr txBox="1"/>
          <p:nvPr/>
        </p:nvSpPr>
        <p:spPr>
          <a:xfrm>
            <a:off x="914400" y="3703320"/>
            <a:ext cx="2971800" cy="1188720"/>
          </a:xfrm>
          <a:prstGeom prst="rect">
            <a:avLst/>
          </a:prstGeom>
          <a:noFill/>
        </p:spPr>
        <p:txBody>
          <a:bodyPr wrap="square" lIns="0" tIns="0" rIns="0" bIns="0" anchor="t">
            <a:spAutoFit/>
          </a:bodyPr>
          <a:lstStyle/>
          <a:p>
            <a:pPr algn="l">
              <a:lnSpc>
                <a:spcPct val="130000"/>
              </a:lnSpc>
            </a:pPr>
            <a:r>
              <a:rPr sz="1250" b="0" i="0">
                <a:solidFill>
                  <a:srgbClr val="6B7280"/>
                </a:solidFill>
                <a:latin typeface="Calibri"/>
              </a:rPr>
              <a:t>Regresión / gradient boosting para predecir precio óptimo por propiedad.</a:t>
            </a:r>
          </a:p>
        </p:txBody>
      </p:sp>
      <p:sp>
        <p:nvSpPr>
          <p:cNvPr id="11" name="Rounded Rectangle 10"/>
          <p:cNvSpPr/>
          <p:nvPr/>
        </p:nvSpPr>
        <p:spPr>
          <a:xfrm>
            <a:off x="4389120" y="2743200"/>
            <a:ext cx="3520440" cy="2286000"/>
          </a:xfrm>
          <a:prstGeom prst="roundRect">
            <a:avLst>
              <a:gd name="adj" fmla="val 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63440" y="3017520"/>
            <a:ext cx="502920" cy="5029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3017520"/>
            <a:ext cx="502920" cy="502920"/>
          </a:xfrm>
          <a:prstGeom prst="rect">
            <a:avLst/>
          </a:prstGeom>
          <a:noFill/>
        </p:spPr>
        <p:txBody>
          <a:bodyPr wrap="square" lIns="0" tIns="0" rIns="0" bIns="0" anchor="ctr">
            <a:spAutoFit/>
          </a:bodyPr>
          <a:lstStyle/>
          <a:p>
            <a:pPr algn="ctr">
              <a:lnSpc>
                <a:spcPct val="100000"/>
              </a:lnSpc>
            </a:pPr>
            <a:r>
              <a:rPr sz="1800" b="1" i="0">
                <a:solidFill>
                  <a:srgbClr val="1B1F3B"/>
                </a:solidFill>
                <a:latin typeface="Calibri"/>
              </a:rPr>
              <a:t>2</a:t>
            </a:r>
          </a:p>
        </p:txBody>
      </p:sp>
      <p:sp>
        <p:nvSpPr>
          <p:cNvPr id="14" name="TextBox 13"/>
          <p:cNvSpPr txBox="1"/>
          <p:nvPr/>
        </p:nvSpPr>
        <p:spPr>
          <a:xfrm>
            <a:off x="5349240" y="3017520"/>
            <a:ext cx="2286000" cy="502920"/>
          </a:xfrm>
          <a:prstGeom prst="rect">
            <a:avLst/>
          </a:prstGeom>
          <a:noFill/>
        </p:spPr>
        <p:txBody>
          <a:bodyPr wrap="square" lIns="0" tIns="0" rIns="0" bIns="0" anchor="ctr">
            <a:spAutoFit/>
          </a:bodyPr>
          <a:lstStyle/>
          <a:p>
            <a:pPr algn="l">
              <a:lnSpc>
                <a:spcPct val="100000"/>
              </a:lnSpc>
            </a:pPr>
            <a:r>
              <a:rPr sz="1500" b="1" i="0">
                <a:solidFill>
                  <a:srgbClr val="FFFFFF"/>
                </a:solidFill>
                <a:latin typeface="Cambria"/>
              </a:rPr>
              <a:t>Modelo de ocupación</a:t>
            </a:r>
          </a:p>
        </p:txBody>
      </p:sp>
      <p:sp>
        <p:nvSpPr>
          <p:cNvPr id="15" name="TextBox 14"/>
          <p:cNvSpPr txBox="1"/>
          <p:nvPr/>
        </p:nvSpPr>
        <p:spPr>
          <a:xfrm>
            <a:off x="4663440" y="3703320"/>
            <a:ext cx="2971800" cy="1188720"/>
          </a:xfrm>
          <a:prstGeom prst="rect">
            <a:avLst/>
          </a:prstGeom>
          <a:noFill/>
        </p:spPr>
        <p:txBody>
          <a:bodyPr wrap="square" lIns="0" tIns="0" rIns="0" bIns="0" anchor="t">
            <a:spAutoFit/>
          </a:bodyPr>
          <a:lstStyle/>
          <a:p>
            <a:pPr algn="l">
              <a:lnSpc>
                <a:spcPct val="130000"/>
              </a:lnSpc>
            </a:pPr>
            <a:r>
              <a:rPr sz="1250" b="0" i="0">
                <a:solidFill>
                  <a:srgbClr val="CADCFC"/>
                </a:solidFill>
                <a:latin typeface="Calibri"/>
              </a:rPr>
              <a:t>Clasificación de riesgo de baja ocupación según ubicación y equipamiento.</a:t>
            </a:r>
          </a:p>
        </p:txBody>
      </p:sp>
      <p:sp>
        <p:nvSpPr>
          <p:cNvPr id="16" name="Rounded Rectangle 15"/>
          <p:cNvSpPr/>
          <p:nvPr/>
        </p:nvSpPr>
        <p:spPr>
          <a:xfrm>
            <a:off x="8138159" y="2743200"/>
            <a:ext cx="3520440" cy="2286000"/>
          </a:xfrm>
          <a:prstGeom prst="roundRect">
            <a:avLst>
              <a:gd name="adj" fmla="val 5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12480" y="301752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3017520"/>
            <a:ext cx="502920" cy="50292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3</a:t>
            </a:r>
          </a:p>
        </p:txBody>
      </p:sp>
      <p:sp>
        <p:nvSpPr>
          <p:cNvPr id="19" name="TextBox 18"/>
          <p:cNvSpPr txBox="1"/>
          <p:nvPr/>
        </p:nvSpPr>
        <p:spPr>
          <a:xfrm>
            <a:off x="9098280" y="3017520"/>
            <a:ext cx="2286000" cy="502920"/>
          </a:xfrm>
          <a:prstGeom prst="rect">
            <a:avLst/>
          </a:prstGeom>
          <a:noFill/>
        </p:spPr>
        <p:txBody>
          <a:bodyPr wrap="square" lIns="0" tIns="0" rIns="0" bIns="0" anchor="ctr">
            <a:spAutoFit/>
          </a:bodyPr>
          <a:lstStyle/>
          <a:p>
            <a:pPr algn="l">
              <a:lnSpc>
                <a:spcPct val="100000"/>
              </a:lnSpc>
            </a:pPr>
            <a:r>
              <a:rPr sz="1500" b="1" i="0">
                <a:solidFill>
                  <a:srgbClr val="1B1F3B"/>
                </a:solidFill>
                <a:latin typeface="Cambria"/>
              </a:rPr>
              <a:t>Optimización</a:t>
            </a:r>
          </a:p>
        </p:txBody>
      </p:sp>
      <p:sp>
        <p:nvSpPr>
          <p:cNvPr id="20" name="TextBox 19"/>
          <p:cNvSpPr txBox="1"/>
          <p:nvPr/>
        </p:nvSpPr>
        <p:spPr>
          <a:xfrm>
            <a:off x="8412480" y="3703320"/>
            <a:ext cx="2971800" cy="1188720"/>
          </a:xfrm>
          <a:prstGeom prst="rect">
            <a:avLst/>
          </a:prstGeom>
          <a:noFill/>
        </p:spPr>
        <p:txBody>
          <a:bodyPr wrap="square" lIns="0" tIns="0" rIns="0" bIns="0" anchor="t">
            <a:spAutoFit/>
          </a:bodyPr>
          <a:lstStyle/>
          <a:p>
            <a:pPr algn="l">
              <a:lnSpc>
                <a:spcPct val="130000"/>
              </a:lnSpc>
            </a:pPr>
            <a:r>
              <a:rPr sz="1250" b="0" i="0">
                <a:solidFill>
                  <a:srgbClr val="6B7280"/>
                </a:solidFill>
                <a:latin typeface="Calibri"/>
              </a:rPr>
              <a:t>Recomendador de amenities e inversión con mejor retorno esperado por barrio.</a:t>
            </a:r>
          </a:p>
        </p:txBody>
      </p:sp>
      <p:sp>
        <p:nvSpPr>
          <p:cNvPr id="21" name="TextBox 20"/>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6B7280"/>
                </a:solidFill>
                <a:latin typeface="Calibri"/>
              </a:rPr>
              <a:t>Airbnb CABA — Data Science II · TP1</a:t>
            </a:r>
          </a:p>
        </p:txBody>
      </p:sp>
      <p:sp>
        <p:nvSpPr>
          <p:cNvPr id="22" name="TextBox 21"/>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2103120"/>
            <a:ext cx="5486400" cy="5486400"/>
          </a:xfrm>
          <a:prstGeom prst="ellipse">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9144000" cy="1097280"/>
          </a:xfrm>
          <a:prstGeom prst="rect">
            <a:avLst/>
          </a:prstGeom>
          <a:noFill/>
        </p:spPr>
        <p:txBody>
          <a:bodyPr wrap="square" lIns="0" tIns="0" rIns="0" bIns="0" anchor="t">
            <a:spAutoFit/>
          </a:bodyPr>
          <a:lstStyle/>
          <a:p>
            <a:pPr algn="l">
              <a:lnSpc>
                <a:spcPct val="100000"/>
              </a:lnSpc>
            </a:pPr>
            <a:r>
              <a:rPr sz="4600" b="1" i="0">
                <a:solidFill>
                  <a:srgbClr val="FFFFFF"/>
                </a:solidFill>
                <a:latin typeface="Cambria"/>
              </a:rPr>
              <a:t>Gracias</a:t>
            </a:r>
          </a:p>
        </p:txBody>
      </p:sp>
      <p:sp>
        <p:nvSpPr>
          <p:cNvPr id="5" name="TextBox 4"/>
          <p:cNvSpPr txBox="1"/>
          <p:nvPr/>
        </p:nvSpPr>
        <p:spPr>
          <a:xfrm>
            <a:off x="822960" y="3429000"/>
            <a:ext cx="8686800" cy="457200"/>
          </a:xfrm>
          <a:prstGeom prst="rect">
            <a:avLst/>
          </a:prstGeom>
          <a:noFill/>
        </p:spPr>
        <p:txBody>
          <a:bodyPr wrap="square" lIns="0" tIns="0" rIns="0" bIns="0" anchor="t">
            <a:spAutoFit/>
          </a:bodyPr>
          <a:lstStyle/>
          <a:p>
            <a:pPr algn="l">
              <a:lnSpc>
                <a:spcPct val="100000"/>
              </a:lnSpc>
            </a:pPr>
            <a:r>
              <a:rPr sz="1500" b="0" i="0">
                <a:solidFill>
                  <a:srgbClr val="CADCFC"/>
                </a:solidFill>
                <a:latin typeface="Calibri"/>
              </a:rPr>
              <a:t>Optimización de Precios y Ocupación en Alquileres Temporarios — Airbnb CABA</a:t>
            </a:r>
          </a:p>
        </p:txBody>
      </p:sp>
      <p:sp>
        <p:nvSpPr>
          <p:cNvPr id="6" name="TextBox 5"/>
          <p:cNvSpPr txBox="1"/>
          <p:nvPr/>
        </p:nvSpPr>
        <p:spPr>
          <a:xfrm>
            <a:off x="822960" y="3977639"/>
            <a:ext cx="8686800" cy="365760"/>
          </a:xfrm>
          <a:prstGeom prst="rect">
            <a:avLst/>
          </a:prstGeom>
          <a:noFill/>
        </p:spPr>
        <p:txBody>
          <a:bodyPr wrap="square" lIns="0" tIns="0" rIns="0" bIns="0" anchor="t">
            <a:spAutoFit/>
          </a:bodyPr>
          <a:lstStyle/>
          <a:p>
            <a:pPr algn="l">
              <a:lnSpc>
                <a:spcPct val="100000"/>
              </a:lnSpc>
            </a:pPr>
            <a:r>
              <a:rPr sz="1250" b="0" i="1">
                <a:solidFill>
                  <a:srgbClr val="9AA6DA"/>
                </a:solidFill>
                <a:latin typeface="Calibri"/>
              </a:rPr>
              <a:t>Fuentes: Inside Airbnb · OpenStreetMap / Overpass API</a:t>
            </a:r>
          </a:p>
        </p:txBody>
      </p:sp>
      <p:sp>
        <p:nvSpPr>
          <p:cNvPr id="7" name="TextBox 6"/>
          <p:cNvSpPr txBox="1"/>
          <p:nvPr/>
        </p:nvSpPr>
        <p:spPr>
          <a:xfrm>
            <a:off x="457200" y="6473952"/>
            <a:ext cx="7315200" cy="274320"/>
          </a:xfrm>
          <a:prstGeom prst="rect">
            <a:avLst/>
          </a:prstGeom>
          <a:noFill/>
        </p:spPr>
        <p:txBody>
          <a:bodyPr wrap="square" lIns="0" tIns="0" rIns="0" bIns="0" anchor="t">
            <a:spAutoFit/>
          </a:bodyPr>
          <a:lstStyle/>
          <a:p>
            <a:pPr algn="l">
              <a:lnSpc>
                <a:spcPct val="100000"/>
              </a:lnSpc>
            </a:pPr>
            <a:r>
              <a:rPr sz="900" b="0" i="0">
                <a:solidFill>
                  <a:srgbClr val="8891C4"/>
                </a:solidFill>
                <a:latin typeface="Calibri"/>
              </a:rPr>
              <a:t>Airbnb CABA — Data Science II · TP1</a:t>
            </a:r>
          </a:p>
        </p:txBody>
      </p:sp>
      <p:sp>
        <p:nvSpPr>
          <p:cNvPr id="8" name="TextBox 7"/>
          <p:cNvSpPr txBox="1"/>
          <p:nvPr/>
        </p:nvSpPr>
        <p:spPr>
          <a:xfrm>
            <a:off x="11185855" y="6473952"/>
            <a:ext cx="548640" cy="274320"/>
          </a:xfrm>
          <a:prstGeom prst="rect">
            <a:avLst/>
          </a:prstGeom>
          <a:noFill/>
        </p:spPr>
        <p:txBody>
          <a:bodyPr wrap="square" lIns="0" tIns="0" rIns="0" bIns="0" anchor="t">
            <a:spAutoFit/>
          </a:bodyPr>
          <a:lstStyle/>
          <a:p>
            <a:pPr algn="r">
              <a:lnSpc>
                <a:spcPct val="100000"/>
              </a:lnSpc>
            </a:pPr>
            <a:r>
              <a:rPr sz="900" b="0" i="0">
                <a:solidFill>
                  <a:srgbClr val="8891C4"/>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1007</Words>
  <Application>Microsoft Office PowerPoint</Application>
  <PresentationFormat>Panorámica</PresentationFormat>
  <Paragraphs>141</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cp:lastModifiedBy>Sofia Algamiz</cp:lastModifiedBy>
  <dcterms:created xsi:type="dcterms:W3CDTF">2013-01-27T09:14:16Z</dcterms:created>
  <dcterms:modified xsi:type="dcterms:W3CDTF">2026-08-07T00:12:50Z</dcterms:modified>
  <cp:category/>
</cp:coreProperties>
</file>